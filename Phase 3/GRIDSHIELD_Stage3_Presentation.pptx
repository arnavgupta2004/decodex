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61520" cy="15544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560320"/>
            <a:ext cx="109728" cy="2011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058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Board Directive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74320" y="274320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Re-Optimization Under Regulatory &amp; Reliability Constraints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3383280"/>
            <a:ext cx="822960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3520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Risk Advisory Team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NLD Synapse 2026  |  Lumina Energy — Suburban Mumbai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5486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March 2026  |  5:00 AM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58978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BOARD SUBMISSION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Three-Stage Journey: From Precision to Compliance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11612880" cy="54864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70432"/>
            <a:ext cx="111556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The regime shift caused a 31× increase in per-interval penalty. Our Stage 3 strategy satisfies ALL 4 board constraints while minimizing financial exposure within regulatory bounds.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36576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828800"/>
            <a:ext cx="365760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5623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112264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Diagnostic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4231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0.28%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294436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Rs.1.16L penalty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2918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56,679 intervals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63931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₹2.04/interval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1828800"/>
            <a:ext cx="36576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97680" y="1828800"/>
            <a:ext cx="3657600" cy="502920"/>
          </a:xfrm>
          <a:prstGeom prst="rect">
            <a:avLst/>
          </a:prstGeom>
          <a:solidFill>
            <a:srgbClr val="E8732A"/>
          </a:solidFill>
          <a:ln w="12700">
            <a:solidFill>
              <a:srgbClr val="E873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34840" y="185623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34840" y="2112264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Shock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34840" y="24231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6.75%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434840" y="294436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Rs.1.89L penalty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34840" y="32918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2,977 intervals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34840" y="363931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₹63.50/interval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1828800"/>
            <a:ext cx="36576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828800"/>
            <a:ext cx="3657600" cy="50292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185623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2112264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Directive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66760" y="24231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CONSTRAINTS PASS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366760" y="294436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Rs.2.00L penalty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66760" y="32918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Q75+180kW peak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66760" y="363931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violations (Cyclone)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65760" y="5166360"/>
            <a:ext cx="11430000" cy="502920"/>
          </a:xfrm>
          <a:prstGeom prst="rect">
            <a:avLst/>
          </a:prstGeom>
          <a:solidFill>
            <a:srgbClr val="FFF7ED"/>
          </a:solidFill>
          <a:ln w="9525">
            <a:solidFill>
              <a:srgbClr val="E8732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+6% penalty vs Stage 2 is the cost of regulatory compliance. The 3 remaining peak violations are Cyclone Tauktae — force majeure, unavoidable.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Binding Board Constraints — All Must Be Satisfied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5394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43000"/>
            <a:ext cx="5394960" cy="73152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216152"/>
            <a:ext cx="594360" cy="11612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399032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51560" y="1252728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Exposure Cap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164592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total, peak, and off-peak deviation penalties under Stage 2 rules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0" y="1143000"/>
            <a:ext cx="5394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1143000"/>
            <a:ext cx="5394960" cy="7315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216152"/>
            <a:ext cx="594360" cy="116128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399032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132320" y="1252728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Reliability Constraint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32320" y="164592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Underestimation &gt;5% of actual during peak hours: max 3 intervals permitted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560320"/>
            <a:ext cx="5394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560320"/>
            <a:ext cx="539496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2633472"/>
            <a:ext cx="594360" cy="11612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816352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51560" y="2670048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Bias Bound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" y="306324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bias must remain within −2% to +3%. Over-procurement and regulatory risk both bounded.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2560320"/>
            <a:ext cx="5394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0" y="2560320"/>
            <a:ext cx="5394960" cy="73152"/>
          </a:xfrm>
          <a:prstGeom prst="rect">
            <a:avLst/>
          </a:prstGeom>
          <a:solidFill>
            <a:srgbClr val="E8732A"/>
          </a:solidFill>
          <a:ln w="12700">
            <a:solidFill>
              <a:srgbClr val="E873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2633472"/>
            <a:ext cx="594360" cy="1161288"/>
          </a:xfrm>
          <a:prstGeom prst="rect">
            <a:avLst/>
          </a:prstGeom>
          <a:solidFill>
            <a:srgbClr val="E8732A"/>
          </a:solidFill>
          <a:ln w="12700">
            <a:solidFill>
              <a:srgbClr val="E873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2816352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132320" y="2670048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Buffering Constraint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32320" y="306324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forecast uplift vs unbiased model ≤ 3% across entire test window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4160520"/>
            <a:ext cx="11521440" cy="502920"/>
          </a:xfrm>
          <a:prstGeom prst="rect">
            <a:avLst/>
          </a:prstGeom>
          <a:solidFill>
            <a:srgbClr val="FEF2F2"/>
          </a:solidFill>
          <a:ln w="9525">
            <a:solidFill>
              <a:srgbClr val="C628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17880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insight: C2 (max 3 peak violations) is the binding constraint that drives strategy design. Satisfying it requires an additive +180 kW peak buffer on top of the Q75 model.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4754880"/>
            <a:ext cx="11521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57200" y="4800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5166360"/>
            <a:ext cx="2468880" cy="5943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Re-Optimization Under Shock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08960" y="5166360"/>
            <a:ext cx="2468880" cy="5943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Logic &amp; Trade-Off Clarity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760720" y="5166360"/>
            <a:ext cx="2468880" cy="5943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783080" y="5532120"/>
            <a:ext cx="2468880" cy="5943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Communication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434840" y="5532120"/>
            <a:ext cx="2468880" cy="5943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Depth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Diagnosis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1: A Near-Perfect Forecasting Environment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269748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43000"/>
            <a:ext cx="64008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52728"/>
            <a:ext cx="2514600" cy="596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0.28%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81279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05968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Near-perfect accuracy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0" y="1143000"/>
            <a:ext cx="269748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143000"/>
            <a:ext cx="64008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252728"/>
            <a:ext cx="2514600" cy="596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6.56 kW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37560" y="181279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37560" y="205968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0.5% of mean load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1143000"/>
            <a:ext cx="269748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1143000"/>
            <a:ext cx="64008" cy="13258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252728"/>
            <a:ext cx="2514600" cy="596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96.4%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17920" y="181279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Reduction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205968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naive baseline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961120" y="1143000"/>
            <a:ext cx="269748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0" y="1143000"/>
            <a:ext cx="64008" cy="132588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98280" y="1252728"/>
            <a:ext cx="2514600" cy="596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Rs.1.16L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098280" y="181279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Penalty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098280" y="205968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56,679 intervals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2606040"/>
            <a:ext cx="11521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2920" y="269748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made Stage 1 work: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2920" y="3127248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3090672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Newsvendor-optimal quantile: q* = 4/(4+2) = 0.667 — solved the RIGHT objective (cost minimization, not RMSE)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3621024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3584448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40 features including lag t-192/t-672, cyclical encodings, weather interactions, COVID indicators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" y="4114800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4078224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temporal holdout: 80/20 split — no data leakage; all lag features used ≥192-interval (48h) offset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608576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" y="4572000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strategy: Q67 during peak hours, Mean model off-peak — matching model to risk profile by hour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5102352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5065776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structural breaks encoded as one-hot flags — model understood regime change within training data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0040" y="5623560"/>
            <a:ext cx="11521440" cy="594360"/>
          </a:xfrm>
          <a:prstGeom prst="rect">
            <a:avLst/>
          </a:prstGeom>
          <a:solidFill>
            <a:srgbClr val="F0FDF4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5650992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lesson: In-sample accuracy (MAPE 0.28%) was only achievable because test data came from the same distribution as training data. Stage 2 broke this assumption completely.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Post-Shock Analysis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2: Three-Layer Regime Shift — May–June 2021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37490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43000"/>
            <a:ext cx="3749040" cy="53035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161288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Break the Chain 2.0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" y="1453896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1–14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" y="1783080"/>
            <a:ext cx="3529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 weekday load (−159 kW avg)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9768" y="2304288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Commercial/office sector closure; weekday−weekend ratio confirms demand suppression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51960" y="1143000"/>
            <a:ext cx="37490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51960" y="1143000"/>
            <a:ext cx="3749040" cy="530352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61688" y="1161288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Cyclone Tauktae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61688" y="1453896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17–18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61688" y="1783080"/>
            <a:ext cx="3529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879 kW minimum load (−40%)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361688" y="2304288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47mm rainfall, 32°C→27.6°C. Industrial shutdown. Lag features anchored to pre-cyclone baseline.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3880" y="1143000"/>
            <a:ext cx="37490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83880" y="1143000"/>
            <a:ext cx="3749040" cy="53035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93608" y="1161288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Mission Begin Again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93608" y="1453896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1 onward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93608" y="1783080"/>
            <a:ext cx="3529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+19.4% demand rebound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93608" y="2304288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Post-unlock surge. Model trained on suppressed data — systematic under-forecast at unlock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4709160"/>
            <a:ext cx="11521440" cy="1051560"/>
          </a:xfrm>
          <a:prstGeom prst="rect">
            <a:avLst/>
          </a:prstGeom>
          <a:solidFill>
            <a:srgbClr val="FEF2F2"/>
          </a:solidFill>
          <a:ln w="9525">
            <a:solidFill>
              <a:srgbClr val="C6282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02920" y="47548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lag features failed: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507492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load_t_192 references data from 2 days prior. In May 2021, the 2-day lag pointed to April 2021 — a full 'Break the Chain' lockdown period with suppressed demand (~1,289 kW). The test period had partially-unlocked demand (~1,273 kW), anchoring all forecasts to the wrong regime. RMSE jumped from 6.43 kW (Stage 1) to 116 kW (Stage 2) — an 18× degradation.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0040" y="5833872"/>
            <a:ext cx="269748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5833872"/>
            <a:ext cx="64008" cy="77724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5943600"/>
            <a:ext cx="2514600" cy="3497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6.75%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57200" y="625678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650367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0.28% in Stage 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00400" y="5833872"/>
            <a:ext cx="269748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00400" y="5833872"/>
            <a:ext cx="64008" cy="77724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37560" y="5943600"/>
            <a:ext cx="2514600" cy="3497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 kW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337560" y="625678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337560" y="650367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18× Stage 1 value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80760" y="5833872"/>
            <a:ext cx="269748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080760" y="5833872"/>
            <a:ext cx="64008" cy="77724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5943600"/>
            <a:ext cx="2514600" cy="3497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Rs.63.50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217920" y="625678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Penalty/Interval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17920" y="650367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31× Stage 1 (Rs.2.04)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961120" y="5833872"/>
            <a:ext cx="269748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961120" y="5833872"/>
            <a:ext cx="64008" cy="77724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98280" y="5943600"/>
            <a:ext cx="2514600" cy="3497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9098280" y="625678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Violations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098280" y="650367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max 3 allowed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Update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Penalty Escalation: ₹4 → ₹6 per kWh (Stage 2 Onward)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53035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234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Structure Comparison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5120640" cy="256032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3716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2/3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Under-forecast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Rs.4/kWh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Rs.6/kWh ↑50%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Over-forecast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Rs.2/kWh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Rs.2/kWh (unchanged)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Off-Peak Under-forecast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Rs.4/kWh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Rs.4/kWh (unchanged)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Off-Peak Over-forecast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Rs.2/kWh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Rs.2/kWh (unchanged)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Peak q*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 ← 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31596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Newsvendor Formula: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" y="4617720"/>
            <a:ext cx="4937760" cy="8686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q* = c_under / (c_under + c_over)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Peak:  4/(4+2) = 0.667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2+ Peak: 6/(6+2) = 0.750  ← +12.5% more conservative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0" y="1143000"/>
            <a:ext cx="58978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126480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Implications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35040" y="1691640"/>
            <a:ext cx="566928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35040" y="1691640"/>
            <a:ext cx="54864" cy="128016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172200" y="17373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higher cost per kWh of peak under-forecast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172200" y="2084832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100 kW under-forecast during peak hours now costs Rs.150 per interval (was Rs.100). With ~496 peak intervals in the test period, the financial stakes are materially higher.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35040" y="3108960"/>
            <a:ext cx="566928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3108960"/>
            <a:ext cx="54864" cy="1280160"/>
          </a:xfrm>
          <a:prstGeom prst="rect">
            <a:avLst/>
          </a:prstGeom>
          <a:solidFill>
            <a:srgbClr val="E8732A"/>
          </a:solidFill>
          <a:ln w="12700">
            <a:solidFill>
              <a:srgbClr val="E8732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72200" y="315468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strategy shifts right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172200" y="3502152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Q75 (75th percentile) vs Q67 (67th percentile) — the model must be systematically more conservative during peak hours. A plain mean model (q=0.5) is now even more misaligned with the objective.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035040" y="4526280"/>
            <a:ext cx="566928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4526280"/>
            <a:ext cx="54864" cy="1280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72200" y="457200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strategy unchanged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72200" y="4919472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q* = 4/(4+2) = 0.667 remains optimal for off-peak. The off-peak Q67 model from Stage 1 carries forward directly.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Analysis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is the Binding Constraint — Requires Structural Re-design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11521440" cy="594360"/>
          </a:xfrm>
          <a:prstGeom prst="rect">
            <a:avLst/>
          </a:prstGeom>
          <a:solidFill>
            <a:srgbClr val="FEF2F2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70432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CONSTRAINT: Stage 2 Hybrid had 100 peak underestimation violations &gt;5% of actual — 97 more than the board limit of 3.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828800"/>
          <a:ext cx="1152144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645920"/>
                <a:gridCol w="1097280"/>
                <a:gridCol w="1280160"/>
                <a:gridCol w="2011680"/>
              </a:tblGrid>
              <a:tr h="355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 Added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Viol &gt;5%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Penalty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Uplift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 kW (Q75 only)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Rs.188.0K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C2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 kW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Rs.183.0K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+1.29%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C2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+120 kW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Rs.188.7K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+2.07%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C2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+160 kW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Rs.195.4K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+2.60%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+2.36%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C2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+175 kW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Rs.198.3K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+2.79%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C2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+180 kW ← SELECTED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Rs.199.3K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+2.86%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+2.63%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ALL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+190 kW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Rs.201.4K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ALL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+200 kW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Rs.203.5K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+2.89%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C3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20040" y="5120640"/>
            <a:ext cx="11521440" cy="960120"/>
          </a:xfrm>
          <a:prstGeom prst="rect">
            <a:avLst/>
          </a:prstGeom>
          <a:solidFill>
            <a:srgbClr val="F0FDF4"/>
          </a:solidFill>
          <a:ln w="12700">
            <a:solidFill>
              <a:srgbClr val="2E7D3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02920" y="5148072"/>
            <a:ext cx="11064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+180 kW is optimal: It is the minimum feasible buffer satisfying all 4 constraints. Going to +190 kW adds Rs.2,000 more cost for just 1 fewer violation (still force majeure). +200 kW violates C3 (bias exceeds +3%). The 3 remaining violations at +180 kW are ALL during Cyclone Tauktae (May 17) — force majeure, physically unavoidable by any forecast model.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Logic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Newsvendor: Minimizing Cost Under 4 Binding Constraints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70408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2344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Optimization Problem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691640"/>
            <a:ext cx="6858000" cy="8046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691640"/>
            <a:ext cx="54864" cy="804672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19072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1975104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E[Penalty(forecast, actual)] = minimize Rs.(4 or 6) × kWh under + Rs.2 × kWh over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2560320"/>
            <a:ext cx="6858000" cy="8046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2560320"/>
            <a:ext cx="54864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87752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Solution (unconstrained)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Off-peak: Q67 (q*=0.667) | Peak: Q67 hybrid with Mean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MAPE 0.28%, Penalty Rs.1.16L, 0 constraint violations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429000"/>
            <a:ext cx="6858000" cy="8046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3429000"/>
            <a:ext cx="54864" cy="804672"/>
          </a:xfrm>
          <a:prstGeom prst="rect">
            <a:avLst/>
          </a:prstGeom>
          <a:solidFill>
            <a:srgbClr val="E8732A"/>
          </a:solidFill>
          <a:ln w="12700">
            <a:solidFill>
              <a:srgbClr val="E873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456432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Twist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712464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penalty escalated (q*: 0.667→0.750) + test regime shifted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All model variants within ±2% of each other. Regime shift dominates.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" y="4297680"/>
            <a:ext cx="6858000" cy="8046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4297680"/>
            <a:ext cx="54864" cy="80467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325112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Binding Constraint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581144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C2: ≤3 peak violations forces additional buffer beyond q*=0.750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buffer ∈ [0, 210] kW identifies +180 kW as minimum feasible solution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1480" y="5166360"/>
            <a:ext cx="6858000" cy="8046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5166360"/>
            <a:ext cx="54864" cy="8046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93792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Strategy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5449824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Q67 off-peak + Q75+180kW peak → All 4 constraints PASS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= +2.86% (within +3%), Uplift = +2.63% (within 3%), Violations = 3 (exactly at limit)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543800" y="1143000"/>
            <a:ext cx="4297680" cy="4937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266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 Progression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635240" y="1691640"/>
            <a:ext cx="4114800" cy="749808"/>
          </a:xfrm>
          <a:prstGeom prst="rect">
            <a:avLst/>
          </a:prstGeom>
          <a:solidFill>
            <a:srgbClr val="1A2E45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6680" y="171907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Off-Peak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26680" y="203911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q* = 0.667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601200" y="173736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4/(4+2)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635240" y="2532888"/>
            <a:ext cx="4114800" cy="749808"/>
          </a:xfrm>
          <a:prstGeom prst="rect">
            <a:avLst/>
          </a:prstGeom>
          <a:solidFill>
            <a:srgbClr val="1A2E45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26680" y="25603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Peak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726680" y="28803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q* = 0.667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01200" y="2578608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4/(4+2)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635240" y="3374136"/>
            <a:ext cx="4114800" cy="749808"/>
          </a:xfrm>
          <a:prstGeom prst="rect">
            <a:avLst/>
          </a:prstGeom>
          <a:solidFill>
            <a:srgbClr val="1A2E45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26680" y="34015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Off-Peak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26680" y="372160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q* = 0.667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601200" y="341985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4/(4+2)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635240" y="4215384"/>
            <a:ext cx="4114800" cy="749808"/>
          </a:xfrm>
          <a:prstGeom prst="rect">
            <a:avLst/>
          </a:prstGeom>
          <a:solidFill>
            <a:srgbClr val="1A2E45"/>
          </a:solidFill>
          <a:ln w="9525">
            <a:solidFill>
              <a:srgbClr val="E873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26680" y="4242816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Peak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26680" y="4562856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q* = 0.750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601200" y="426110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6/(6+2)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5056632"/>
            <a:ext cx="4114800" cy="749808"/>
          </a:xfrm>
          <a:prstGeom prst="rect">
            <a:avLst/>
          </a:prstGeom>
          <a:solidFill>
            <a:srgbClr val="1A2E45"/>
          </a:solidFill>
          <a:ln w="9525">
            <a:solidFill>
              <a:srgbClr val="C6282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26680" y="508406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Peak (Board)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726680" y="540410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q* = 0.750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+180 kW buffer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601200" y="510235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forces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safety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Recommendation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Constrained-Optimal Strategy: All Board Constraints Satisfied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11521440" cy="10515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STRATEGY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Q67 (Off-Peak Hours) + Q75 + 180 kW Buffer (Peak Hours 6:00–10:00 PM)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" y="2331720"/>
            <a:ext cx="269748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331720"/>
            <a:ext cx="64008" cy="132588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441448"/>
            <a:ext cx="2514600" cy="596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Rs.2,00,349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300151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Penalty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24840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Stage 2 rules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0" y="2331720"/>
            <a:ext cx="269748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0" y="2331720"/>
            <a:ext cx="64008" cy="13258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2441448"/>
            <a:ext cx="2514600" cy="596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Rs.48,639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337560" y="300151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Penalty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37560" y="324840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+94% vs Stage 1 peak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0760" y="2331720"/>
            <a:ext cx="269748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2331720"/>
            <a:ext cx="64008" cy="13258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441448"/>
            <a:ext cx="2514600" cy="596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496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17920" y="300151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Violations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17920" y="324840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Cyclone Tauktae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961120" y="2331720"/>
            <a:ext cx="269748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961120" y="2331720"/>
            <a:ext cx="64008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98280" y="2441448"/>
            <a:ext cx="2514600" cy="596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+2.76%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098280" y="300151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Bias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098280" y="324840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+3% limit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0040" y="3749040"/>
            <a:ext cx="55778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02920" y="382219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strategy wins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233672"/>
            <a:ext cx="146304" cy="14630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" y="419709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buffer (+180 kW) that satisfies C2 — no over-engineering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4626864"/>
            <a:ext cx="146304" cy="14630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" y="459028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of +2.76% stays within board's +3% ceiling with safety margin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5020056"/>
            <a:ext cx="146304" cy="14630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4944" y="498348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Uplift of +2.53% stays within 3% buffering cap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5413248"/>
            <a:ext cx="146304" cy="14630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" y="5376672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violations are Cyclone Tauktae — legally force majeure; no model can forecast natural disaster demand collapse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806440"/>
            <a:ext cx="146304" cy="14630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4944" y="5769864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Cost-conscious: +6% vs Stage 2 is minimum regulatory compliance cost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080760" y="3749040"/>
            <a:ext cx="57607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263640" y="3822192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Compliance Summary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172200" y="4224528"/>
            <a:ext cx="557784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63640" y="427939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58000" y="4279392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Penalty Reported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921240" y="4279392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Rs.2,00,349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1247120" y="427939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172200" y="4700016"/>
            <a:ext cx="5577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63640" y="475488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858000" y="475488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Violations ≤3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921240" y="475488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(Cyclone)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1247120" y="475488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172200" y="5175504"/>
            <a:ext cx="557784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63640" y="5230368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858000" y="523036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−2% to +3%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921240" y="523036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+2.76%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11247120" y="523036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6172200" y="5650992"/>
            <a:ext cx="5577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263640" y="5705856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858000" y="570585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Uplift ≤3%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921240" y="5705856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+2.53%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1247120" y="570585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Compliance, Penalty Comparison &amp; Buffer Analysis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78992"/>
            <a:ext cx="11612880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Transparency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Penalties, Residual Distribution &amp; Peak Volatility Impact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78992"/>
            <a:ext cx="11612880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Sensitivity Analysis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Go Wrong — and How We've Mitigated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11521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54864" cy="123444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07008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cyclone / extreme weather event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Likelihood: Medium  |  Impact: Very High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207008"/>
            <a:ext cx="6035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Real-time weather alert triggers dynamic quantile escalation (Q90+) for flagged intervals. Force majeure documentation prepared.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0" y="1170432"/>
            <a:ext cx="0" cy="12344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2514600"/>
            <a:ext cx="11521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514600"/>
            <a:ext cx="54864" cy="1234440"/>
          </a:xfrm>
          <a:prstGeom prst="rect">
            <a:avLst/>
          </a:prstGeom>
          <a:solidFill>
            <a:srgbClr val="E8732A"/>
          </a:solidFill>
          <a:ln w="12700">
            <a:solidFill>
              <a:srgbClr val="E87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551176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regime shift (new lockdown or unlock)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289864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Likelihood: Low-Medium  |  Impact: High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0" y="2551176"/>
            <a:ext cx="6035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Retrain model on latest 90-day rolling window. Event flags updated in real time. Monitor weekday/weekend ratio as early indicator.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0" y="2514600"/>
            <a:ext cx="0" cy="12344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858768"/>
            <a:ext cx="11521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3858768"/>
            <a:ext cx="54864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895344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+180 kW buffer causes systematic over-procurement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24281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Likelihood: Medium  |  Impact: Medium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0" y="3895344"/>
            <a:ext cx="6035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Off-peak uses Q67 (no buffer) to counterbalance. Net bias held at +2.76%. Review buffer monthly against realized violations.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0" y="3858768"/>
            <a:ext cx="0" cy="12344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5202936"/>
            <a:ext cx="11521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" y="5202936"/>
            <a:ext cx="54864" cy="123444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239512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penalty escalates further (e.g., Rs.8/kWh)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58698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Likelihood: Low  |  Impact: High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69280" y="5239512"/>
            <a:ext cx="6035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Optimal q* would shift to 8/(8+2)=0.800. Strategy is plug-and-play: re-run buffer optimization with new rates.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0" y="5202936"/>
            <a:ext cx="0" cy="12344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as a Regulatory-Financial Risk Management System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115214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1554480" cy="804672"/>
          </a:xfrm>
          <a:prstGeom prst="round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05740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1554480" cy="804672"/>
          </a:xfrm>
          <a:prstGeom prst="round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88620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2926080"/>
            <a:ext cx="1554480" cy="804672"/>
          </a:xfrm>
          <a:prstGeom prst="round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297180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60320" y="2834640"/>
            <a:ext cx="1554480" cy="804672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606040" y="288036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(40 features)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46320" y="2834640"/>
            <a:ext cx="1554480" cy="804672"/>
          </a:xfrm>
          <a:prstGeom prst="round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92040" y="288036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 Models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(Q50/Q67/Q75)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32320" y="2834640"/>
            <a:ext cx="1554480" cy="804672"/>
          </a:xfrm>
          <a:prstGeom prst="roundRect">
            <a:avLst/>
          </a:prstGeom>
          <a:solidFill>
            <a:srgbClr val="E8732A"/>
          </a:solidFill>
          <a:ln w="12700">
            <a:solidFill>
              <a:srgbClr val="E873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178040" y="288036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Newsvendor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(q*=c_u/c_u+c_o)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326880" y="2834640"/>
            <a:ext cx="1554480" cy="804672"/>
          </a:xfrm>
          <a:prstGeom prst="round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72600" y="288036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155680" y="2103120"/>
            <a:ext cx="1554480" cy="804672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1201400" y="214884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1155680" y="3657600"/>
            <a:ext cx="1554480" cy="804672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1201400" y="370332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SLDC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286000" y="324612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4114800" y="3246120"/>
            <a:ext cx="7315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6355080" y="324612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8641080" y="3246120"/>
            <a:ext cx="6858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10881360" y="3063240"/>
            <a:ext cx="274320" cy="-50292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10881360" y="3429000"/>
            <a:ext cx="274320" cy="4114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1371600" y="5212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Constraint violations → retrain or re-buffer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326880" y="5120640"/>
            <a:ext cx="0" cy="-914400"/>
          </a:xfrm>
          <a:prstGeom prst="line">
            <a:avLst/>
          </a:prstGeom>
          <a:noFill/>
          <a:ln w="19050">
            <a:solidFill>
              <a:srgbClr val="C62828"/>
            </a:solidFill>
            <a:prstDash val="dash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365760" y="5577840"/>
            <a:ext cx="1143000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5605272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Every element of this system is designed around financial penalty minimization, not statistical accuracy. RMSE is a proxy — the real objective function is the ABT penalty formula.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Logic &amp; Trade-Off Clarity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Had a Cost — We Accepted Them Eyes Open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0" y="320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NLD Synapse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5577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43000"/>
            <a:ext cx="5577840" cy="45720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197864"/>
            <a:ext cx="5358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+6% higher total penalty vs Stage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" y="1673352"/>
            <a:ext cx="535838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Required to meet C2 (≤3 peak violations). No feasible strategy satisfies all constraints at lower cost. The alternative — 100 violations — was not compliant.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2441448"/>
            <a:ext cx="5358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Board compliance, regulatory safety, grid reliability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" y="2743200"/>
            <a:ext cx="5358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Rs.11,316 additional penalty vs Stage 2 Hybrid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80760" y="1143000"/>
            <a:ext cx="5577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80760" y="1143000"/>
            <a:ext cx="5577840" cy="457200"/>
          </a:xfrm>
          <a:prstGeom prst="rect">
            <a:avLst/>
          </a:prstGeom>
          <a:solidFill>
            <a:srgbClr val="E8732A"/>
          </a:solidFill>
          <a:ln w="12700">
            <a:solidFill>
              <a:srgbClr val="E87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90488" y="1197864"/>
            <a:ext cx="5358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+180 kW buffer (not +190 or +200 kW)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90488" y="1673352"/>
            <a:ext cx="535838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+190 kW saves 1 violation (still force majeure) at +Rs.2,000 cost. +200 kW violates C3. +180 kW is Pareto-optimal — minimum cost, exactly compliant.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190488" y="2441448"/>
            <a:ext cx="5358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Minimum cost, satisfies C3 and C4 with margin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90488" y="2743200"/>
            <a:ext cx="5358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3 violations remain (all Cyclone — unavoidable)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3840480"/>
            <a:ext cx="5577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3840480"/>
            <a:ext cx="5577840" cy="45720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895344"/>
            <a:ext cx="5358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Q67 for off-peak (no buffer off-peak)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9768" y="4370832"/>
            <a:ext cx="535838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Off-peak penalty structure unchanged. Q67 remains theoretically optimal. Adding buffer off-peak would violate C4 (uplift cap) and increase C3 risk.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29768" y="5138928"/>
            <a:ext cx="5358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Optimal off-peak pricing, respects uplift constraint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29768" y="5440680"/>
            <a:ext cx="5358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Off-peak is 75.7% of total penalty — still largest exposure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80760" y="3840480"/>
            <a:ext cx="5577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0760" y="3840480"/>
            <a:ext cx="557784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90488" y="3895344"/>
            <a:ext cx="5358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Cyclone violations as force majeure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90488" y="4370832"/>
            <a:ext cx="535838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Cyclone Tauktae caused 40% demand drop in 4 hours — no statistical model has this signal in a 2-day-ahead forecast. Documenting as force majeure is honest, defensible, and standard industry practice.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90488" y="5138928"/>
            <a:ext cx="5358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Honest risk disclosure, defensible to regulators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90488" y="5440680"/>
            <a:ext cx="5358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Board may request Cyclone detection protocol for future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— Final Conclusion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Board Directive | Forecast Risk Advisory Team | NLD Synapse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828800"/>
            <a:ext cx="5669280" cy="1965960"/>
          </a:xfrm>
          <a:prstGeom prst="rect">
            <a:avLst/>
          </a:prstGeom>
          <a:solidFill>
            <a:srgbClr val="1A2E45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9659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196596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Board Constraints Satisfied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88720" y="24231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penalties reported, C2 violations=3 (exactly at limit, all force majeure), C3 bias=+2.76% (within +3%), C4 uplift=+2.53% (within 3%). Board directive fully complied with.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669280" cy="1965960"/>
          </a:xfrm>
          <a:prstGeom prst="rect">
            <a:avLst/>
          </a:prstGeom>
          <a:solidFill>
            <a:srgbClr val="1A2E45"/>
          </a:solidFill>
          <a:ln w="12700">
            <a:solidFill>
              <a:srgbClr val="E873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9659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7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132320" y="196596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 Shift is the Story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32320" y="24231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31× per-interval penalty increase (Stage 1: Rs.2.04 → Stage 2: Rs.63.50) was caused by regime shift, not regulatory change alone. The peak penalty escalation contributed ~15%; the regime shift contributed ~85%.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3931920"/>
            <a:ext cx="5669280" cy="1965960"/>
          </a:xfrm>
          <a:prstGeom prst="rect">
            <a:avLst/>
          </a:prstGeom>
          <a:solidFill>
            <a:srgbClr val="1A2E45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406908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188720" y="406908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Accepted, Eyes Open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452628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+6% penalty vs Stage 2 is the explicit cost of regulatory compliance. We did not hide it. The alternative (100 violations) was unacceptable. +180 kW buffer is minimum-cost feasible.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3931920"/>
            <a:ext cx="5669280" cy="1965960"/>
          </a:xfrm>
          <a:prstGeom prst="rect">
            <a:avLst/>
          </a:prstGeom>
          <a:solidFill>
            <a:srgbClr val="1A2E45"/>
          </a:solidFill>
          <a:ln w="12700">
            <a:solidFill>
              <a:srgbClr val="1B4F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406908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132320" y="406908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 Risk Management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0" y="452628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weather alerts for cyclone detection, monthly buffer recalibration, and rolling 90-day retraining recommended. The system is designed to adapt as regulatory and meteorological conditions evolve.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6519672"/>
            <a:ext cx="1161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GRIDSHIELD | Forecast Risk Advisory Team | NLD Synapse 2026 | Lumina Energy — Suburban Mumbai Distribution Zone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GRIDSHIELD Stage 3 — Board Directive</dc:title>
  <dc:subject>PptxGenJS Presentation</dc:subject>
  <dc:creator>Forecast Risk Advisory Team</dc:creator>
  <cp:lastModifiedBy>Forecast Risk Advisory Team</cp:lastModifiedBy>
  <cp:revision>1</cp:revision>
  <dcterms:created xsi:type="dcterms:W3CDTF">2026-02-28T20:32:42Z</dcterms:created>
  <dcterms:modified xsi:type="dcterms:W3CDTF">2026-02-28T20:32:42Z</dcterms:modified>
</cp:coreProperties>
</file>