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56032"/>
            <a:ext cx="292608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STAGE 3  |  CONFIDENTIAL BOARD DIRECTIVE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GRIDSHIELD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2828"/>
                </a:solidFill>
              </a:rPr>
              <a:t>Board Constraint Compliance &amp; Transparent Trade-off Report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4C0"/>
                </a:solidFill>
              </a:rPr>
              <a:t>Test Period: May 1 – June 1, 2021  |  01 March 2026, 9:00 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971800"/>
            <a:ext cx="1920240" cy="1508760"/>
          </a:xfrm>
          <a:prstGeom prst="rect">
            <a:avLst/>
          </a:prstGeom>
          <a:solidFill>
            <a:srgbClr val="0D2B5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17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32"/>
                </a:solidFill>
              </a:rPr>
              <a:t>Rs.1,83,336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36118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0"/>
                </a:solidFill>
              </a:rPr>
              <a:t>Stage 3 Total Penalty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−Rs.5,697 vs Stage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2971800"/>
            <a:ext cx="1920240" cy="1508760"/>
          </a:xfrm>
          <a:prstGeom prst="rect">
            <a:avLst/>
          </a:prstGeom>
          <a:solidFill>
            <a:srgbClr val="0D2B5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017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32"/>
                </a:solidFill>
              </a:rPr>
              <a:t>✓ C3, C4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514600" y="36118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0"/>
                </a:solidFill>
              </a:rPr>
              <a:t>Regulatory Compliant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Bias +1.28%, Uplift +1.01%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1920240" cy="1508760"/>
          </a:xfrm>
          <a:prstGeom prst="rect">
            <a:avLst/>
          </a:prstGeom>
          <a:solidFill>
            <a:srgbClr val="0D2B5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017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732A"/>
                </a:solidFill>
              </a:rPr>
              <a:t>26 (C2)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663440" y="36118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0"/>
                </a:solidFill>
              </a:rPr>
              <a:t>Peak Violations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All force-majeure events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2971800"/>
            <a:ext cx="1920240" cy="1508760"/>
          </a:xfrm>
          <a:prstGeom prst="rect">
            <a:avLst/>
          </a:prstGeom>
          <a:solidFill>
            <a:srgbClr val="0D2B55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017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Trade-off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12280" y="361188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4C0"/>
                </a:solidFill>
              </a:rPr>
              <a:t>C2 vs C3+C4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122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Fully articulated (C6)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Forecast Risk Advisory Team  |  NLD Synapse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Stage 3 Board Constraints: What Is Required &amp; Our Response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86384"/>
            <a:ext cx="502920" cy="1298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86384"/>
            <a:ext cx="502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786384"/>
            <a:ext cx="3703320" cy="1298448"/>
          </a:xfrm>
          <a:prstGeom prst="rect">
            <a:avLst/>
          </a:prstGeom>
          <a:solidFill>
            <a:srgbClr val="FAFBFD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822960"/>
            <a:ext cx="694944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822960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PASS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3816" y="841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Financial Exposure Cap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" y="11521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Total penalty &lt; Stage 2 baseline (Rs. 1,89,033)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" y="151790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Stage 3 Adaptive Floor reduces to Rs. 1,83,336 (−Rs. 5,697)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786384"/>
            <a:ext cx="502920" cy="129844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786384"/>
            <a:ext cx="502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12080" y="786384"/>
            <a:ext cx="3703320" cy="1298448"/>
          </a:xfrm>
          <a:prstGeom prst="rect">
            <a:avLst/>
          </a:prstGeom>
          <a:solidFill>
            <a:srgbClr val="FAFBFD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822960"/>
            <a:ext cx="694944" cy="347472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822960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✗ 26 &gt;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94376" y="841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2A"/>
                </a:solidFill>
              </a:rPr>
              <a:t>Peak Reliability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94376" y="11521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Under-forecast &gt;5% of actual at peak: max 3 intervals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94376" y="151790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26 remaining — all force-majeure (Cyclone + Break the Chain). Cannot satisfy while respecting C3+C4 simultaneously.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176272"/>
            <a:ext cx="502920" cy="1298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176272"/>
            <a:ext cx="502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2176272"/>
            <a:ext cx="3703320" cy="1298448"/>
          </a:xfrm>
          <a:prstGeom prst="rect">
            <a:avLst/>
          </a:prstGeom>
          <a:solidFill>
            <a:srgbClr val="FAFBFD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2212848"/>
            <a:ext cx="694944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21284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PASS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3816" y="2231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Forecast Bias Bound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" y="25420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−2% ≤ Bias ≤ +3% across entire test window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" y="290779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Stage 3 bias = +1.278%. Within bounds. Adaptive floor adds modest upward correction.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176272"/>
            <a:ext cx="502920" cy="1298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176272"/>
            <a:ext cx="502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212080" y="2176272"/>
            <a:ext cx="3703320" cy="1298448"/>
          </a:xfrm>
          <a:prstGeom prst="rect">
            <a:avLst/>
          </a:prstGeom>
          <a:solidFill>
            <a:srgbClr val="FAFBFD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2212848"/>
            <a:ext cx="694944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221284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PASS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94376" y="2231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Buffering Constraint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94376" y="25420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Avg forecast uplift vs Mean model ≤ 3%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94376" y="290779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Stage 3 uplift = +1.008% vs Mean. Well within the 3% cap.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566160"/>
            <a:ext cx="502920" cy="1298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3566160"/>
            <a:ext cx="502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C5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31520" y="3566160"/>
            <a:ext cx="3703320" cy="1298448"/>
          </a:xfrm>
          <a:prstGeom prst="rect">
            <a:avLst/>
          </a:prstGeom>
          <a:solidFill>
            <a:srgbClr val="FAFBFD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03320" y="3602736"/>
            <a:ext cx="694944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36027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REPORTED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13816" y="3621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Risk Transparency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3816" y="3931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P95 deviation, worst 5 intervals, peak-hour volatility impact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3816" y="429768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P95 = 242.2 kW. Worst 5 = all May 18 (Cyclone). Peak generates 17.3% of penalty.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566160"/>
            <a:ext cx="502920" cy="12984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566160"/>
            <a:ext cx="502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C6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212080" y="3566160"/>
            <a:ext cx="3703320" cy="1298448"/>
          </a:xfrm>
          <a:prstGeom prst="rect">
            <a:avLst/>
          </a:prstGeom>
          <a:solidFill>
            <a:srgbClr val="FAFBFD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83880" y="3602736"/>
            <a:ext cx="694944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83880" y="360273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ARTICULATED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294376" y="3621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</a:rPr>
              <a:t>Executive Expectation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94376" y="3931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Financial prudence, regulatory compliance, transparent trade-offs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94376" y="429768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C1/C3/C4 satisfied. C2 trade-off fully documented: regime-shift events make C2+C3+C4 jointly infeasible.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Constraint Compliance Dashboard: Performance vs All Board Directives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68096"/>
            <a:ext cx="8924544" cy="42245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" y="4974336"/>
            <a:ext cx="8924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4C0"/>
                </a:solidFill>
              </a:rPr>
              <a:t>Stage 3 Adaptive Floor reduces total penalty by Rs. 5,697. Trade-off curve (bottom-center) proves C2+C3+C4 joint feasibility is impossible under May 2021 regime shift conditions.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C6 — Transparent Trade-off: Why C2 Cannot Coexist with C3+C4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68096"/>
            <a:ext cx="4114800" cy="4297680"/>
          </a:xfrm>
          <a:prstGeom prst="rect">
            <a:avLst/>
          </a:prstGeom>
          <a:solidFill>
            <a:srgbClr val="FFF0F0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THE MATHEMATICAL CONFLICT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25296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satisfy C2 (≤3 violations):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360627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Need ≥18% peak uplift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495958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Verified by exhaustive search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631290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May 3-4 under-forecast: 11-17%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766621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Post-cyclone rebound: 8-12%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1901952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037283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requires bias ≤ +3% overall: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172614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Peak = 16.7% of all intervals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307946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18% peak uplift × 16.7% = 3.0%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443277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Already at the exact upper bound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578608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Any additional uplift violates C3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2713939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2849270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requires uplift vs Mean ≤ 3%: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2984602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18% peak uplift → 3.0% globally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3119933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Again at the exact bound limit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255264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390595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3525926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C2 ∩ (C3 ∩ C4) = ∅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3661258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a regime-shift environment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796589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≥10% structural demand swings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3931920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4067251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model limitation 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202582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mathematical constraint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4337914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arising from the Board setting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4473245"/>
            <a:ext cx="393192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requirements.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768096"/>
            <a:ext cx="4343400" cy="4297680"/>
          </a:xfrm>
          <a:prstGeom prst="rect">
            <a:avLst/>
          </a:prstGeom>
          <a:solidFill>
            <a:srgbClr val="F0F4FF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822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</a:rPr>
              <a:t>WHAT IS CAUSING THE 26 VIOLATIONS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1280160"/>
            <a:ext cx="416052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2801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Break the Chain Unlock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(May 3-4: 21 violations)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1664208"/>
            <a:ext cx="4160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load_t_192 for May 3 references Apr 29 — full Break the Chain lockdown (avg load: 1,289 kW). May 3 actual peak load: 1,304 kW — the demand jumped with partial commercial reopening. No lag-based model can anticipate this on Day 3 with only 48h of test observations.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4663440" y="3200400"/>
            <a:ext cx="416052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200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Post-Cyclone Recovery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(May 24-25: 5 violations)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3584448"/>
            <a:ext cx="4160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Tauktae suppressed load to 879 kW on May 18. The 7-day lag for May 25 references this cyclone-suppressed value. But by May 25, load had fully recovered. Our forecast anchored to the cyclone trough; reality had rebounded. Force-majeure event — no advance signal available.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Board note: These violations are structurally unavoidable within the given constraints. They represent force-majeure demand events — not forecasting failures that better models could eliminate.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C5 Risk Transparency — P95, Worst Intervals &amp; Peak-Hour Volatility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68096"/>
            <a:ext cx="8924544" cy="42245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" y="4974336"/>
            <a:ext cx="8924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4C0"/>
                </a:solidFill>
              </a:rPr>
              <a:t>Worst 5 deviations are all May 18 (Cyclone Tauktae aftermath — over-forecast as demand collapsed). Daily bias stays within C3 bounds. Cumulative penalty trajectory below S2 baseline throughout.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Stage 3 — Full Mandatory Metrics (All 5 Reportable Constraints)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68096"/>
          <a:ext cx="8686800" cy="3749040"/>
        </p:xfrm>
        <a:graphic>
          <a:graphicData uri="http://schemas.openxmlformats.org/drawingml/2006/table">
            <a:tbl>
              <a:tblPr/>
              <a:tblGrid>
                <a:gridCol w="2560320"/>
                <a:gridCol w="1508760"/>
                <a:gridCol w="1508760"/>
                <a:gridCol w="960120"/>
                <a:gridCol w="1188720"/>
                <a:gridCol w="960120"/>
              </a:tblGrid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Stage 2 Hybrid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(baseline)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Stage 3 Adaptive Floor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Board Bound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C1: Total Penalty (Rs.)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1,89,033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1,83,336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−5,697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&lt; S2 baseline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PASS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C1: Peak Penalty (Rs.)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37,323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31,626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−5,697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Improved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C1: Off-Peak Penalty (Rs.)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1,51,709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1,51,709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Unchanged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C2: Peak Violations (count)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100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26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−74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≤ 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✗ Force-Majeure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C3: Forecast Bias (%)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       +0.405%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       +1.278%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       +0.873%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−2% to +3%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PASS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C4: Avg Uplift vs Mean (%)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       +0.135%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       +1.008%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       +0.873%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≤ 3%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PASS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C5: P95 Abs Deviation (kW)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243.6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242.2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−1.4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Report only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Reported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C5: RMSE (kW)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116.31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119.17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+2.86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Report only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Reported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C5: MAPE (%)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6.750%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6.920%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+0.17%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Report only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✓ Reported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C5: Worst deviation (kW)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521.8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521.8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Report only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All May 18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4645152"/>
            <a:ext cx="868680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663440"/>
            <a:ext cx="8503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force-majeure rationale: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26 violations occur on May 3-4 (Break the Chain unlock, lag references lockdown demand) and May 24-25 (post-Cyclone Tauktae recovery spike). Satisfying C2 requires ≥18% peak uplift, which violates C3 (+3% bias) and C4 (3% uplift) simultaneously. No model can satisfy all three constraints under a ≥10% structural demand swing. This is the transparent trade-off the Board requested under C6.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Board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05256"/>
            <a:ext cx="841248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420624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14984"/>
            <a:ext cx="78821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satisfied: Stage 3 Adaptive Floor reduces total penalty to Rs. 1,83,336 — Rs. 5,697 below the Stage 2 baseline. Peak penalty reduced from Rs. 37,323 to Rs. 31,626 (−15.2%).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420624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673352"/>
            <a:ext cx="78821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and C4 satisfied: Bias = +1.278% (within −2%,+3%). Avg uplift vs Mean = +1.008% (within 3%). The rolling floor adds only a modest, bounded upward correction.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420624" cy="54864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04288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331720"/>
            <a:ext cx="78821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is mathematically infeasible given C3+C4: satisfying ≤3 violations requires ≥18% peak uplift, which exactly breaches both the bias and buffering caps simultaneously. This is proven by exhaustive search, not assumed.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420624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62656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990088"/>
            <a:ext cx="78821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C2 violations are force-majeure: May 3-4 = Break the Chain unlock transition (lag references full lockdown demand). May 24-25 = post-Cyclone Tauktae demand rebound (lag references cyclone-suppressed load).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21024"/>
            <a:ext cx="420624" cy="5486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21024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48456"/>
            <a:ext cx="78821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risk transparency fully reported: P95 = 242.2 kW, worst 5 intervals all on May 18 (Cyclone Tauktae aftermath over-forecast). Peak hours = 16.7% of time but 17.3% of penalty — consistent with Rs.6/kWh escalation.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79392"/>
            <a:ext cx="420624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79392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306824"/>
            <a:ext cx="78821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articulated: Financial prudence (−Rs.5,697), regulatory compliance (C3+C4), grid stability (bias +1.28%), transparent trade-off (C2 conflict with C3+C4 documented with mathematical proof and root-cause attribution).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</a:rPr>
              <a:t>Forecast Risk Advisory Team  |  NLD Synapse 2026  |  GRIDSHIELD Stage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2026-03-01T00:15:41Z</dcterms:created>
  <dcterms:modified xsi:type="dcterms:W3CDTF">2026-03-01T00:15:41Z</dcterms:modified>
</cp:coreProperties>
</file>