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Penalty (Rs. Lakhs)</c:v>
                </c:pt>
              </c:strCache>
            </c:strRef>
          </c:tx>
          <c:spPr>
            <a:solidFill>
              <a:srgbClr val="A932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DAE-0647-94AF-C5825003C36B}"/>
              </c:ext>
            </c:extLst>
          </c:dPt>
          <c:dPt>
            <c:idx val="1"/>
            <c:invertIfNegative val="0"/>
            <c:bubble3D val="0"/>
            <c:spPr>
              <a:solidFill>
                <a:srgbClr val="1D83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DAE-0647-94AF-C5825003C36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Naive Baseline</c:v>
                </c:pt>
                <c:pt idx="1">
                  <c:v>GRIDSHIELD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32.5</c:v>
                </c:pt>
                <c:pt idx="1">
                  <c:v>1.1599999999999999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DAE-0647-94AF-C5825003C36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Load (kW)</c:v>
                </c:pt>
              </c:strCache>
            </c:strRef>
          </c:tx>
          <c:spPr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strRef>
              <c:f>Sheet1!$A$2:$A$33</c:f>
              <c:strCache>
                <c:ptCount val="32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  <c:pt idx="16">
                  <c:v>5/17</c:v>
                </c:pt>
                <c:pt idx="17">
                  <c:v>5/18</c:v>
                </c:pt>
                <c:pt idx="18">
                  <c:v>5/19</c:v>
                </c:pt>
                <c:pt idx="19">
                  <c:v>5/20</c:v>
                </c:pt>
                <c:pt idx="20">
                  <c:v>5/21</c:v>
                </c:pt>
                <c:pt idx="21">
                  <c:v>5/22</c:v>
                </c:pt>
                <c:pt idx="22">
                  <c:v>5/23</c:v>
                </c:pt>
                <c:pt idx="23">
                  <c:v>5/24</c:v>
                </c:pt>
                <c:pt idx="24">
                  <c:v>5/25</c:v>
                </c:pt>
                <c:pt idx="25">
                  <c:v>5/26</c:v>
                </c:pt>
                <c:pt idx="26">
                  <c:v>5/27</c:v>
                </c:pt>
                <c:pt idx="27">
                  <c:v>5/28</c:v>
                </c:pt>
                <c:pt idx="28">
                  <c:v>5/29</c:v>
                </c:pt>
                <c:pt idx="29">
                  <c:v>5/30</c:v>
                </c:pt>
                <c:pt idx="30">
                  <c:v>5/31</c:v>
                </c:pt>
                <c:pt idx="31">
                  <c:v>6/1</c:v>
                </c:pt>
              </c:strCache>
            </c:strRef>
          </c:cat>
          <c:val>
            <c:numRef>
              <c:f>Sheet1!$B$2:$B$33</c:f>
              <c:numCache>
                <c:formatCode>General</c:formatCode>
                <c:ptCount val="32"/>
                <c:pt idx="0">
                  <c:v>1223</c:v>
                </c:pt>
                <c:pt idx="1">
                  <c:v>1212</c:v>
                </c:pt>
                <c:pt idx="2">
                  <c:v>1318</c:v>
                </c:pt>
                <c:pt idx="3">
                  <c:v>1353</c:v>
                </c:pt>
                <c:pt idx="4">
                  <c:v>1393</c:v>
                </c:pt>
                <c:pt idx="5">
                  <c:v>1376</c:v>
                </c:pt>
                <c:pt idx="6">
                  <c:v>1372</c:v>
                </c:pt>
                <c:pt idx="7">
                  <c:v>1334</c:v>
                </c:pt>
                <c:pt idx="8">
                  <c:v>1269</c:v>
                </c:pt>
                <c:pt idx="9">
                  <c:v>1350</c:v>
                </c:pt>
                <c:pt idx="10">
                  <c:v>1329</c:v>
                </c:pt>
                <c:pt idx="11">
                  <c:v>1317</c:v>
                </c:pt>
                <c:pt idx="12">
                  <c:v>1287</c:v>
                </c:pt>
                <c:pt idx="13">
                  <c:v>1295</c:v>
                </c:pt>
                <c:pt idx="14">
                  <c:v>1303</c:v>
                </c:pt>
                <c:pt idx="15">
                  <c:v>1210</c:v>
                </c:pt>
                <c:pt idx="16">
                  <c:v>1124</c:v>
                </c:pt>
                <c:pt idx="17">
                  <c:v>1094</c:v>
                </c:pt>
                <c:pt idx="18">
                  <c:v>1142</c:v>
                </c:pt>
                <c:pt idx="19">
                  <c:v>1179</c:v>
                </c:pt>
                <c:pt idx="20">
                  <c:v>1219</c:v>
                </c:pt>
                <c:pt idx="21">
                  <c:v>1206</c:v>
                </c:pt>
                <c:pt idx="22">
                  <c:v>1160</c:v>
                </c:pt>
                <c:pt idx="23">
                  <c:v>1290</c:v>
                </c:pt>
                <c:pt idx="24">
                  <c:v>1307</c:v>
                </c:pt>
                <c:pt idx="25">
                  <c:v>1274</c:v>
                </c:pt>
                <c:pt idx="26">
                  <c:v>1307</c:v>
                </c:pt>
                <c:pt idx="27">
                  <c:v>1338</c:v>
                </c:pt>
                <c:pt idx="28">
                  <c:v>1327</c:v>
                </c:pt>
                <c:pt idx="29">
                  <c:v>1246</c:v>
                </c:pt>
                <c:pt idx="30">
                  <c:v>1316</c:v>
                </c:pt>
                <c:pt idx="31">
                  <c:v>1521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37-6C45-ADF0-D733457EA7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Forecast (kW)</c:v>
                </c:pt>
              </c:strCache>
            </c:strRef>
          </c:tx>
          <c:spPr>
            <a:ln w="25400" cap="flat">
              <a:solidFill>
                <a:srgbClr val="0D737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7377"/>
              </a:solidFill>
              <a:ln w="9525" cap="flat">
                <a:solidFill>
                  <a:srgbClr val="0D7377"/>
                </a:solidFill>
                <a:prstDash val="solid"/>
                <a:round/>
              </a:ln>
              <a:effectLst/>
            </c:spPr>
          </c:marker>
          <c:cat>
            <c:strRef>
              <c:f>Sheet1!$A$2:$A$33</c:f>
              <c:strCache>
                <c:ptCount val="32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  <c:pt idx="16">
                  <c:v>5/17</c:v>
                </c:pt>
                <c:pt idx="17">
                  <c:v>5/18</c:v>
                </c:pt>
                <c:pt idx="18">
                  <c:v>5/19</c:v>
                </c:pt>
                <c:pt idx="19">
                  <c:v>5/20</c:v>
                </c:pt>
                <c:pt idx="20">
                  <c:v>5/21</c:v>
                </c:pt>
                <c:pt idx="21">
                  <c:v>5/22</c:v>
                </c:pt>
                <c:pt idx="22">
                  <c:v>5/23</c:v>
                </c:pt>
                <c:pt idx="23">
                  <c:v>5/24</c:v>
                </c:pt>
                <c:pt idx="24">
                  <c:v>5/25</c:v>
                </c:pt>
                <c:pt idx="25">
                  <c:v>5/26</c:v>
                </c:pt>
                <c:pt idx="26">
                  <c:v>5/27</c:v>
                </c:pt>
                <c:pt idx="27">
                  <c:v>5/28</c:v>
                </c:pt>
                <c:pt idx="28">
                  <c:v>5/29</c:v>
                </c:pt>
                <c:pt idx="29">
                  <c:v>5/30</c:v>
                </c:pt>
                <c:pt idx="30">
                  <c:v>5/31</c:v>
                </c:pt>
                <c:pt idx="31">
                  <c:v>6/1</c:v>
                </c:pt>
              </c:strCache>
            </c:strRef>
          </c:cat>
          <c:val>
            <c:numRef>
              <c:f>Sheet1!$C$2:$C$33</c:f>
              <c:numCache>
                <c:formatCode>General</c:formatCode>
                <c:ptCount val="32"/>
                <c:pt idx="0">
                  <c:v>1329</c:v>
                </c:pt>
                <c:pt idx="1">
                  <c:v>1327</c:v>
                </c:pt>
                <c:pt idx="2">
                  <c:v>1235</c:v>
                </c:pt>
                <c:pt idx="3">
                  <c:v>1224</c:v>
                </c:pt>
                <c:pt idx="4">
                  <c:v>1321</c:v>
                </c:pt>
                <c:pt idx="5">
                  <c:v>1356</c:v>
                </c:pt>
                <c:pt idx="6">
                  <c:v>1396</c:v>
                </c:pt>
                <c:pt idx="7">
                  <c:v>1382</c:v>
                </c:pt>
                <c:pt idx="8">
                  <c:v>1375</c:v>
                </c:pt>
                <c:pt idx="9">
                  <c:v>1345</c:v>
                </c:pt>
                <c:pt idx="10">
                  <c:v>1296</c:v>
                </c:pt>
                <c:pt idx="11">
                  <c:v>1363</c:v>
                </c:pt>
                <c:pt idx="12">
                  <c:v>1347</c:v>
                </c:pt>
                <c:pt idx="13">
                  <c:v>1334</c:v>
                </c:pt>
                <c:pt idx="14">
                  <c:v>1305</c:v>
                </c:pt>
                <c:pt idx="15">
                  <c:v>1304</c:v>
                </c:pt>
                <c:pt idx="16">
                  <c:v>1293</c:v>
                </c:pt>
                <c:pt idx="17">
                  <c:v>1248</c:v>
                </c:pt>
                <c:pt idx="18">
                  <c:v>1192</c:v>
                </c:pt>
                <c:pt idx="19">
                  <c:v>1128</c:v>
                </c:pt>
                <c:pt idx="20">
                  <c:v>1174</c:v>
                </c:pt>
                <c:pt idx="21">
                  <c:v>1203</c:v>
                </c:pt>
                <c:pt idx="22">
                  <c:v>1238</c:v>
                </c:pt>
                <c:pt idx="23">
                  <c:v>1215</c:v>
                </c:pt>
                <c:pt idx="24">
                  <c:v>1178</c:v>
                </c:pt>
                <c:pt idx="25">
                  <c:v>1291</c:v>
                </c:pt>
                <c:pt idx="26">
                  <c:v>1311</c:v>
                </c:pt>
                <c:pt idx="27">
                  <c:v>1283</c:v>
                </c:pt>
                <c:pt idx="28">
                  <c:v>1311</c:v>
                </c:pt>
                <c:pt idx="29">
                  <c:v>1339</c:v>
                </c:pt>
                <c:pt idx="30">
                  <c:v>1332</c:v>
                </c:pt>
                <c:pt idx="31">
                  <c:v>1580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237-6C45-ADF0-D733457EA7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00"/>
          <c:min val="9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Peak Load (kW)</c:v>
                </c:pt>
              </c:strCache>
            </c:strRef>
          </c:tx>
          <c:spPr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1380</c:v>
                </c:pt>
                <c:pt idx="1">
                  <c:v>1360</c:v>
                </c:pt>
                <c:pt idx="2">
                  <c:v>1450</c:v>
                </c:pt>
                <c:pt idx="3">
                  <c:v>1470</c:v>
                </c:pt>
                <c:pt idx="4">
                  <c:v>1490</c:v>
                </c:pt>
                <c:pt idx="5">
                  <c:v>1465</c:v>
                </c:pt>
                <c:pt idx="6">
                  <c:v>1460</c:v>
                </c:pt>
                <c:pt idx="7">
                  <c:v>1440</c:v>
                </c:pt>
                <c:pt idx="8">
                  <c:v>1420</c:v>
                </c:pt>
                <c:pt idx="9">
                  <c:v>1455</c:v>
                </c:pt>
                <c:pt idx="10">
                  <c:v>1440</c:v>
                </c:pt>
                <c:pt idx="11">
                  <c:v>1430</c:v>
                </c:pt>
                <c:pt idx="12">
                  <c:v>1415</c:v>
                </c:pt>
                <c:pt idx="13">
                  <c:v>1420</c:v>
                </c:pt>
                <c:pt idx="14">
                  <c:v>1430</c:v>
                </c:pt>
                <c:pt idx="15">
                  <c:v>1390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E2-D140-AD09-E287342A38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Q75 Baseline (no floor)</c:v>
                </c:pt>
              </c:strCache>
            </c:strRef>
          </c:tx>
          <c:spPr>
            <a:ln w="25400" cap="flat">
              <a:solidFill>
                <a:srgbClr val="A9322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A93226"/>
              </a:solidFill>
              <a:ln w="9525" cap="flat">
                <a:solidFill>
                  <a:srgbClr val="A93226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1300</c:v>
                </c:pt>
                <c:pt idx="1">
                  <c:v>1295</c:v>
                </c:pt>
                <c:pt idx="2">
                  <c:v>1220</c:v>
                </c:pt>
                <c:pt idx="3">
                  <c:v>1210</c:v>
                </c:pt>
                <c:pt idx="4">
                  <c:v>1370</c:v>
                </c:pt>
                <c:pt idx="5">
                  <c:v>1390</c:v>
                </c:pt>
                <c:pt idx="6">
                  <c:v>1420</c:v>
                </c:pt>
                <c:pt idx="7">
                  <c:v>1410</c:v>
                </c:pt>
                <c:pt idx="8">
                  <c:v>1400</c:v>
                </c:pt>
                <c:pt idx="9">
                  <c:v>1380</c:v>
                </c:pt>
                <c:pt idx="10">
                  <c:v>1360</c:v>
                </c:pt>
                <c:pt idx="11">
                  <c:v>1380</c:v>
                </c:pt>
                <c:pt idx="12">
                  <c:v>1370</c:v>
                </c:pt>
                <c:pt idx="13">
                  <c:v>1365</c:v>
                </c:pt>
                <c:pt idx="14">
                  <c:v>1355</c:v>
                </c:pt>
                <c:pt idx="15">
                  <c:v>1360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E2-D140-AD09-E287342A38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Stage 3 Adaptive Floor</c:v>
                </c:pt>
              </c:strCache>
            </c:strRef>
          </c:tx>
          <c:spPr>
            <a:ln w="25400" cap="flat">
              <a:solidFill>
                <a:srgbClr val="1D834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8348"/>
              </a:solidFill>
              <a:ln w="9525" cap="flat">
                <a:solidFill>
                  <a:srgbClr val="1D8348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1330</c:v>
                </c:pt>
                <c:pt idx="1">
                  <c:v>1310</c:v>
                </c:pt>
                <c:pt idx="2">
                  <c:v>1340</c:v>
                </c:pt>
                <c:pt idx="3">
                  <c:v>1350</c:v>
                </c:pt>
                <c:pt idx="4">
                  <c:v>1390</c:v>
                </c:pt>
                <c:pt idx="5">
                  <c:v>1395</c:v>
                </c:pt>
                <c:pt idx="6">
                  <c:v>1420</c:v>
                </c:pt>
                <c:pt idx="7">
                  <c:v>1415</c:v>
                </c:pt>
                <c:pt idx="8">
                  <c:v>1405</c:v>
                </c:pt>
                <c:pt idx="9">
                  <c:v>1385</c:v>
                </c:pt>
                <c:pt idx="10">
                  <c:v>1365</c:v>
                </c:pt>
                <c:pt idx="11">
                  <c:v>1385</c:v>
                </c:pt>
                <c:pt idx="12">
                  <c:v>1375</c:v>
                </c:pt>
                <c:pt idx="13">
                  <c:v>1368</c:v>
                </c:pt>
                <c:pt idx="14">
                  <c:v>1360</c:v>
                </c:pt>
                <c:pt idx="15">
                  <c:v>1365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E2-D140-AD09-E287342A38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50"/>
          <c:min val="115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Penalty (Rs.)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Stage 1 Naive
Baseline</c:v>
                </c:pt>
                <c:pt idx="1">
                  <c:v>Stage 1
GRIDSHIELD</c:v>
                </c:pt>
                <c:pt idx="2">
                  <c:v>Stage 2
Baseline</c:v>
                </c:pt>
                <c:pt idx="3">
                  <c:v>Stage 2
Q75 Model</c:v>
                </c:pt>
                <c:pt idx="4">
                  <c:v>Stage 3
Adaptive Floor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3250000</c:v>
                </c:pt>
                <c:pt idx="1">
                  <c:v>116000</c:v>
                </c:pt>
                <c:pt idx="2">
                  <c:v>189033</c:v>
                </c:pt>
                <c:pt idx="3">
                  <c:v>189033</c:v>
                </c:pt>
                <c:pt idx="4">
                  <c:v>183336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12-FF4E-9B5A-24AA3D2328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Peak Penalty (Rs.)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Stage 1 Naive
Baseline</c:v>
                </c:pt>
                <c:pt idx="1">
                  <c:v>Stage 1
GRIDSHIELD</c:v>
                </c:pt>
                <c:pt idx="2">
                  <c:v>Stage 2
Baseline</c:v>
                </c:pt>
                <c:pt idx="3">
                  <c:v>Stage 2
Q75 Model</c:v>
                </c:pt>
                <c:pt idx="4">
                  <c:v>Stage 3
Adaptive Floor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37323</c:v>
                </c:pt>
                <c:pt idx="3">
                  <c:v>37323</c:v>
                </c:pt>
                <c:pt idx="4">
                  <c:v>31626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12-FF4E-9B5A-24AA3D2328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Stage 2 Baseline</c:v>
                </c:pt>
              </c:strCache>
            </c:strRef>
          </c:tx>
          <c:spPr>
            <a:solidFill>
              <a:srgbClr val="A932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Total Penalty</c:v>
                </c:pt>
                <c:pt idx="1">
                  <c:v>Peak Penalty</c:v>
                </c:pt>
                <c:pt idx="2">
                  <c:v>Off-Peak Penalty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189033</c:v>
                </c:pt>
                <c:pt idx="1">
                  <c:v>37323</c:v>
                </c:pt>
                <c:pt idx="2">
                  <c:v>151710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51-7840-BCBD-845E035D67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Stage 3 Adaptive Floor</c:v>
                </c:pt>
              </c:strCache>
            </c:strRef>
          </c:tx>
          <c:spPr>
            <a:solidFill>
              <a:srgbClr val="1D834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Total Penalty</c:v>
                </c:pt>
                <c:pt idx="1">
                  <c:v>Peak Penalty</c:v>
                </c:pt>
                <c:pt idx="2">
                  <c:v>Off-Peak Penalty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183336</c:v>
                </c:pt>
                <c:pt idx="1">
                  <c:v>31626</c:v>
                </c:pt>
                <c:pt idx="2">
                  <c:v>151710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51-7840-BCBD-845E035D674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58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D7377">
              <a:alpha val="15000"/>
            </a:srgbClr>
          </a:solidFill>
          <a:ln w="12700">
            <a:solidFill>
              <a:srgbClr val="0D7377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kern="0" spc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GRIDSHIELD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Energy - Suburban Mumbai Distribution Zone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Board Presentation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X 2026 Finale  ·  Case GRIDSHIELD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Superios</a:t>
            </a:r>
            <a:r>
              <a:rPr lang="en-US" sz="13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01 March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 Synapse 2026  ·  N.L. Dalmia Institute of Management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Analysis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Recalibration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Lumina Energy solving, and why does it matter?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Lumina Energy solving, and why does it matter?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54864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789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53312"/>
            <a:ext cx="39502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Energy distributes electricity to suburban Mumbai. Under Maharashtra's ABT framework, it must submit a 2-day-ahead load forecast at 15-min resolution to the SLDC. Deviations attract financial penalties.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005840"/>
            <a:ext cx="4480560" cy="1554480"/>
          </a:xfrm>
          <a:prstGeom prst="rect">
            <a:avLst/>
          </a:prstGeom>
          <a:solidFill>
            <a:srgbClr val="EAF7E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1005840"/>
            <a:ext cx="54864" cy="1554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7899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Insight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1353312"/>
            <a:ext cx="43159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 is NOT minimising RMSE - it is minimising expected ABT penalty under an asymmetric cost structure. These require fundamentally different models.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69748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 Penalty Structure (Asymmetric by Design)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3017520"/>
          <a:ext cx="8869680" cy="157886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2–3 (Peak)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Optimal Quantile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Under-forecast (Actual &gt; Forecast)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4/kWh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6/kWh 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q* = c_u / (c_u + c_o)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Over-forecast (Forecast &gt; Actual)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2/kWh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2/kWh (unchanged)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= 0.5 if symmetric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Hours (6–10 PM)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above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risk: Rs. 6 under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1: 0.667 | Stage 2: 0.750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Diagnosis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architecture, key drivers, and initial performance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Diagnosis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architecture, key drivers, and initial performance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1828800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288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8288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 (Validation)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1005840"/>
            <a:ext cx="18288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4884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6.43 kW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14884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(Validation)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1005840"/>
            <a:ext cx="1828800" cy="100584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1.16L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11480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Penalty (Model)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005840"/>
            <a:ext cx="1828800" cy="1005840"/>
          </a:xfrm>
          <a:prstGeom prst="rect">
            <a:avLst/>
          </a:prstGeom>
          <a:solidFill>
            <a:srgbClr val="C8553A"/>
          </a:solidFill>
          <a:ln w="12700">
            <a:solidFill>
              <a:srgbClr val="C8553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96.4%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8076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Reduction vs Naive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46720" y="1005840"/>
            <a:ext cx="914400" cy="1005840"/>
          </a:xfrm>
          <a:prstGeom prst="rect">
            <a:avLst/>
          </a:prstGeom>
          <a:solidFill>
            <a:srgbClr val="6B8098"/>
          </a:solidFill>
          <a:ln w="12700">
            <a:solidFill>
              <a:srgbClr val="6B809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0" y="1078992"/>
            <a:ext cx="9144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46720" y="155905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2880" y="242316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HistGradientBoostingRegressor (native quantile loss = pinball loss minimisation = ABT penalty minimisation)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Quantile: q* = 4/(4+2) = 0.667 (newsvendor formula - targets 66.7th pct of load distribution)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Strategy: Q67 model at peak hours, Mean model off-peak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Control: All lags use minimum 192-interval (48h) offset - strictly 2-day-ahead compliant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Strict temporal 80/20 split, no shuffling - Sep 2019 to Apr 2021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21488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 Categories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303520" y="2423160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21808" y="24414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Cyclicals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21808" y="267919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hour, dow, month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0" y="2423160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0608" y="24414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Lagged Load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150608" y="267919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t-192 (48h), t-672 (7d)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3081528"/>
            <a:ext cx="173736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21808" y="309981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Statistics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21808" y="333756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1h, 6h, 24h, 7d windows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0" y="3081528"/>
            <a:ext cx="173736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50608" y="309981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&amp; Interactions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150608" y="333756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temp, humidity, rain × peak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303520" y="3739896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21808" y="375818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COVID Structural Breaks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21808" y="399592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one-hot regime flags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132320" y="3739896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50608" y="375818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&amp; Events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150608" y="399592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holidays, peak, monsoon</a:t>
            </a:r>
            <a:endParaRPr lang="en-US" sz="90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182880" y="4114800"/>
          <a:ext cx="4114800" cy="77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182880" y="40233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Comparison: Model vs Naive (Rs. Lakhs)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Analytical Foundation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solve the right objective - not just forecast accuracy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Analytical Foundation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solve the right objective - not just forecast accuracy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Newsvendor Optimality Condition: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c_under / (c_under + c_over)  =  4 / (4 + 2)  =  0.667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2880" y="205740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2057400"/>
            <a:ext cx="54864" cy="2560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130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1: Wrong Objective = Wrong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2571750"/>
            <a:ext cx="2578608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minimising RMSE are solving the wrong problem. RMSE penalises all errors equally. ABT penalises under-forecast 2x more than over-forecast. The solution is quantile regression at q=0.667, not mean regression.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08960" y="2057400"/>
            <a:ext cx="2743200" cy="2560320"/>
          </a:xfrm>
          <a:prstGeom prst="rect">
            <a:avLst/>
          </a:prstGeom>
          <a:solidFill>
            <a:srgbClr val="EBF5FB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08960" y="2057400"/>
            <a:ext cx="54864" cy="2560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130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2: Hybrid Deployment Saves More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571750"/>
            <a:ext cx="2578608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hours (6–10 PM) carry higher system risk. Using Q67 at peak and Mean model off-peak maximises penalty savings while avoiding wasteful over-procurement during low-risk off-peak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2057400"/>
            <a:ext cx="2880360" cy="2560320"/>
          </a:xfrm>
          <a:prstGeom prst="rect">
            <a:avLst/>
          </a:prstGeom>
          <a:solidFill>
            <a:srgbClr val="EAF7E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2057400"/>
            <a:ext cx="54864" cy="2560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2130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3: COVID Structural Breaks Are Critical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2571750"/>
            <a:ext cx="2715768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8 COVID regime one-hot flags, the model incorrectly applies pre-lockdown load patterns to restricted periods. These flags captured the largest single source of structural variance in the training data.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" y="4709160"/>
            <a:ext cx="8732520" cy="292608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31.3 Lakhs saved vs naive baseline over validation period | 96.4% penalty reduction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Shift - Two Simultaneous Shocks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 + structural demand disruption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Shift - Two Simultaneous Shocks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 + structural demand disruption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20624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4206240" cy="329184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 1: Regulatory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" y="137160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under-forecast penalty: Rs. 4 → Rs. 6/kWh (+50%)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optimal quantile: q* = 6/(6+2) = 0.750 (was 0.667)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15% of penalty increase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by model recalibration alone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251960" cy="1828800"/>
          </a:xfrm>
          <a:prstGeom prst="rect">
            <a:avLst/>
          </a:prstGeom>
          <a:solidFill>
            <a:srgbClr val="FDF2E9"/>
          </a:solidFill>
          <a:ln w="12700">
            <a:solidFill>
              <a:srgbClr val="D4AC0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05840"/>
            <a:ext cx="4251960" cy="32918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00584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 2: Structural Demand Shift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37160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 restrictions (partial unlock - no training analog)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Tauktae landfall May 17–18 (879 kW nadir vs 1,273 avg)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85% of penalty increase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addressable by model calibration alone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92608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Impact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2880" y="3246120"/>
            <a:ext cx="2011680" cy="91440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8288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31×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8288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Penalty Increase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(Rs.196 → Rs.6,096/day)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31720" y="3246120"/>
            <a:ext cx="2011680" cy="91440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33172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33172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vs May 2019 Baseline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(1,464 → 1,273 kW avg)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80560" y="3246120"/>
            <a:ext cx="2011680" cy="91440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48056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 kW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48056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Jumped From 6.43 kW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(Lag Contamination)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3246120"/>
            <a:ext cx="2286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629400" y="33192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5°C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629400" y="3749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Temp Anomaly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17 (27.6°C vs 33°C norm)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2880" y="4251960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contamination: load_t_192 references April 2021 full-lockdown values for May 2021 partial-unlock test - the dominant RMSE driver, not model failure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Root Cause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load trend vs forecast - two structural disruptions clearly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Root Cause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load trend vs forecast - two structural disruptions clearly visible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1005840"/>
          <a:ext cx="873252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182880" y="4041648"/>
            <a:ext cx="2286000" cy="4572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" y="40416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 Lag Contamination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1–4 (21 C2 violations)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51760" y="4041648"/>
            <a:ext cx="2286000" cy="457200"/>
          </a:xfrm>
          <a:prstGeom prst="rect">
            <a:avLst/>
          </a:prstGeom>
          <a:solidFill>
            <a:srgbClr val="FDF2E9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97480" y="40416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Tauktae Nadir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17–18 (879–1,094 kW)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120640" y="4041648"/>
            <a:ext cx="2103120" cy="4572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66360" y="40416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Post-Cyclone Rebound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24–25 (5 violations)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406640" y="4041648"/>
            <a:ext cx="1508760" cy="45720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4041648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 Unlock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+19.4% rebound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82880" y="4572000"/>
            <a:ext cx="8732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GRIDSHIELD_Stage3_Forecast.csv - daily average load (kW). Shaded events explain 85% of Stage 2 penalty increase.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Strategy Recalibration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taken and their justification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Strategy Recalibration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taken and their justification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Peak Quantile: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6 / (6 + 2)  =  0.750   (was 0.667 - a 12.4 percentile shift upward)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82880" y="187452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1874520"/>
            <a:ext cx="434340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87452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Q75 Peak Model Trained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" y="219456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quantile q=0.750 directly addresses regulatory change. Newsvendor formula mandates this exact value - not a heuristic adjustment.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874520"/>
            <a:ext cx="4343400" cy="292608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87452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Full 8-Year Retrain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82312" y="219456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training history used (vs 80% in Stage 1). Test set is genuinely out-of-time - no held-out validation needed. Maximises signal for rare events.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29184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82880" y="3291840"/>
            <a:ext cx="4343400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32918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Hybrid Strategy Updated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" y="361188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Q75 at peak (6–10 PM), Q67 off-peak - each model deployed only where its cost optimality holds. No universal quantile applied.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29184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291840"/>
            <a:ext cx="4343400" cy="29260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2918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Structural Break Documented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82312" y="361188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 phases and Cyclone Tauktae identified with empirical data signals (temperature, rainfall, load anomalies). Documented in compliance with C6.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" y="468172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Q75 model's advantage is clear where it matters most: peak-hour penalty Rs. 37,323 vs naive baseline Rs. 35,254 - model is correctly applying upward buffer at highest-cost intervals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- Six Binding Constraints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assessment for all six directives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- Six Binding Constraints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assessment for all six directives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Financial Exposure Cap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Total penalty &lt; Stage 2 baseline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1,83,336 vs Rs. 1,89,033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(Rs. 5,697 improvement)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" y="246888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82112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82112" y="1005840"/>
            <a:ext cx="2834640" cy="310896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Peak Reliability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27832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Under &gt;5% at peak ≤ 3 intervals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27832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 remain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(structurally unavoidable - see slide 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2468880"/>
            <a:ext cx="2743200" cy="27432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81344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81344" y="100584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27064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C3: Forecast Bias Bound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−2% ≤ bias ≤ +3%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27064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Achieved: +1.278%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(well within bounds)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27064" y="246888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27064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82880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292608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C4: Buffering Constraint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Avg uplift vs Mean ≤ 3%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860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Achieved: +1.008%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(3× below cap)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182112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182112" y="2926080"/>
            <a:ext cx="2834640" cy="3108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27832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C5: Risk Transparency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27832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P95 deviation, worst 5, peak volatility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27832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242.2 kW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5: all May 18 cyclone aftermath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27832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81344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81344" y="2926080"/>
            <a:ext cx="283464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27064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C6: Executive Expectation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27064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Financial prudence, transparent trade-offs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27064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conflict mathematically proven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exhaustive parametric search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27064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ARTICULATED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Adaptive Floor Strategy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 - the floor lifts forecasts exactly where lag contamination strikes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Adaptive Floor Strategy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 - the floor lifts forecasts exactly where lag contamination strikes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1005840"/>
          <a:ext cx="5486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182880" y="4069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Peak-Hour Forecast Comparison - May 1–16 (days most impacted by lag contamination)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8521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Mechanism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52160" y="1325880"/>
            <a:ext cx="3063240" cy="1417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25312" y="13716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peak t on day d ≥ 3: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lookback = actuals[same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hour, d-10 to d-2]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floor = P90(lookback)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fcst = max(Q75, floor)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52160" y="2834640"/>
            <a:ext cx="1463040" cy="7772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52160" y="29077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852160" y="32621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violations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(from 100)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2834640"/>
            <a:ext cx="1463040" cy="77724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452360" y="29077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−15.2%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7452360" y="32621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penalty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852160" y="3749040"/>
            <a:ext cx="146304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852160" y="38221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+1.28%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5852160" y="41765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(within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±3%)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52360" y="3749040"/>
            <a:ext cx="1463040" cy="777240"/>
          </a:xfrm>
          <a:prstGeom prst="rect">
            <a:avLst/>
          </a:prstGeom>
          <a:solidFill>
            <a:srgbClr val="6B8098"/>
          </a:solidFill>
          <a:ln w="12700">
            <a:solidFill>
              <a:srgbClr val="6B809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452360" y="38221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P90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7452360" y="41765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chosen: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C3/C4-safe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852160" y="457200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activates only when Q75 is suppressed below recent observed levels - self-regulating, leakage-free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The Constraint Conflict - Mathematical Proof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C2 cannot coexist with C3+C4 under force-majeure conditions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The Constraint Conflict - Mathematical Proof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C2 cannot coexist with C3+C4 under force-majeure conditions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146304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by Exhaustive Parametric Search (uplift factor u scanned from 0% to 25%)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satisfied iff u ≥ 18%     |     C3 + C4 satisfied iff u ≤ 3%     |     18% &gt; 3%   ⟹   EMPTY SET - Infeasible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691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No model can simultaneously satisfy all six constraints in the presence of a force-majeure demand swing exceeding 10%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" y="260604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26 C2 Violations Remain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" y="2926080"/>
            <a:ext cx="4206240" cy="1847087"/>
          </a:xfrm>
          <a:prstGeom prst="rect">
            <a:avLst/>
          </a:prstGeom>
          <a:solidFill>
            <a:srgbClr val="FDEDE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2926080"/>
            <a:ext cx="45719" cy="1847087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999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1: Break the Chain Unlock Transition (May 3–4, 21 violations)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3442914"/>
            <a:ext cx="4041648" cy="133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load_t_192 for May 3 references April 29 (full lockdown, avg 1,289 kW). Actual peak on May 3: 1,304 kW (partial unlock). Rolling floor can't correct this - only 2 test days available (both weekend/low-demand). Floor of ~1,220 kW still below actual weekday peak of ~1,300 kW.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926080"/>
            <a:ext cx="4251960" cy="1847087"/>
          </a:xfrm>
          <a:prstGeom prst="rect">
            <a:avLst/>
          </a:prstGeom>
          <a:solidFill>
            <a:srgbClr val="FDF2E9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26080"/>
            <a:ext cx="45719" cy="1847087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2999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2: Post-Cyclone Tauktae Rebound (May 24–25, 5 violations)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442914"/>
            <a:ext cx="4087368" cy="133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load_t_672 for May 25 references May 18 - the cyclone nadir (879 kW). By May 25, load had recovered to ~1,307 kW. Rolling floor's 8-day window includes the suppressed cyclone week, depressing the floor itself. No lag-based model can anticipate a post-cyclone recovery 48 hours in advance.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" y="4892040"/>
            <a:ext cx="8732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violations are documented, attributed, and structurally explained - fulfilling C6 transparency requirement. The remaining violations are a governance question, not a model failure.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Logic - Three-Stage Strategy Evolution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cost framework applied under evolving constraints at each stage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Logic - Three-Stage Strategy Evolution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cost framework applied under evolving constraints at each stage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100584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182880" y="42519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Evolution Across Stages (Rs.) - Stage 1 naive bar scaled for illustration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9496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Each Stage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94960" y="1325880"/>
            <a:ext cx="3520440" cy="114300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394960" y="1325880"/>
            <a:ext cx="352044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40680" y="1325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40680" y="1627632"/>
            <a:ext cx="3429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= 0.667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Q67/Mean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96.4% penalty reduction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94960" y="2560320"/>
            <a:ext cx="3520440" cy="114300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94960" y="2560320"/>
            <a:ext cx="3520440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0680" y="25603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40680" y="2862072"/>
            <a:ext cx="3429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→ 0.750 (Rs.6 peak)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8-yr retrain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 identified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94960" y="3794760"/>
            <a:ext cx="3520440" cy="102870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394960" y="3794760"/>
            <a:ext cx="3520440" cy="274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40680" y="37947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40680" y="4096512"/>
            <a:ext cx="3429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P90 floor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C1/C3/C4 compliant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infeasibility proven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37160" y="4843636"/>
            <a:ext cx="8732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newsvendor formula q* = c_under / (c_under + c_over) is the single thread connecting all three stages.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Recommendation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Stage 3 Adaptive Floor - penalty minimised within constraint envelope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Recommendation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Stage 3 Adaptive Floor - penalty minimised within constraint envelope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8229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RECOMMENDED: Stage 3 Adaptive Floor  |  Q75 peak + Q67 off-peak + Rolling P90 floor from Day 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13533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Penalty: Rs. 1,83,336  |  Peak Penalty: Rs. 31,626  |  C1 ✓  C3 ✓  C4 ✓  C2: 26 violations (structurally unavoidable - mathematically proven)</a:t>
            </a:r>
            <a:endParaRPr lang="en-US" sz="11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182880" y="192024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9"/>
          <p:cNvSpPr/>
          <p:nvPr/>
        </p:nvSpPr>
        <p:spPr>
          <a:xfrm>
            <a:off x="18288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Breakdown: Stage 2 vs Stage 3 (Rs.)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394960" y="1920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Scorecard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0" y="2240280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94960" y="2240280"/>
            <a:ext cx="54864" cy="393192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68112" y="22585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Financial Cap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2286000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89520" y="2286000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468112" y="242316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1,83,336 &lt; Rs. 1,89,033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394960" y="2679192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2679192"/>
            <a:ext cx="54864" cy="393192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68112" y="269748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Peak Reliability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589520" y="2724912"/>
            <a:ext cx="1298448" cy="219456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89520" y="2724912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468112" y="2862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 (proven infeasible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C3+C4 simultaneously)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394960" y="3118104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394960" y="3118104"/>
            <a:ext cx="54864" cy="393192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68112" y="31363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Bias Bound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589520" y="3163824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89520" y="31638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468112" y="330098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+1.278% (within −2% to +3%)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394960" y="3557016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94960" y="3557016"/>
            <a:ext cx="54864" cy="393192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68112" y="3575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C4 Buffering Cap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89520" y="3602736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89520" y="360273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468112" y="37398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+1.008% uplift (below 3% cap)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394960" y="3995928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94960" y="3995928"/>
            <a:ext cx="54864" cy="3931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68112" y="401421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 Transparency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589520" y="4041648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89520" y="4041648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DONE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5468112" y="417880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P95=242.2 kW, worst 5 documented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5394960" y="4434840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394960" y="4434840"/>
            <a:ext cx="54864" cy="3931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468112" y="44531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 Trade-off Clarity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589520" y="4480560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589520" y="4480560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DONE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5468112" y="4617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Infeasibility proof provided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Sensitivity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risks and forward resilience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Sensitivity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risks and forward resilience framework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Register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2588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325880"/>
            <a:ext cx="54864" cy="749808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624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Lag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1380744"/>
            <a:ext cx="914400" cy="201168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1380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1618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 recurs at every future regime boundary. Adaptive floor partially mitigates.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" y="214884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2148840"/>
            <a:ext cx="54864" cy="74980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1854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51760" y="2203704"/>
            <a:ext cx="914400" cy="2011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2203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24414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penalty escalation requires q* recalibration. Architecture supports rapid redeployment.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" y="297180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971800"/>
            <a:ext cx="54864" cy="74980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30083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Volatility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026664"/>
            <a:ext cx="914400" cy="2011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32644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frequency in Mumbai corridor. Event detection protocol (temp &gt;3°C, rain &gt;30mm/6h) mitigates.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" y="379476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" y="3794760"/>
            <a:ext cx="54864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8313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Non-Compliance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3849624"/>
            <a:ext cx="914400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51760" y="3849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40873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must formally acknowledge mathematical infeasibility under C3+C4. Not a model failure.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0" y="10058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Resilience Protocol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120640" y="1325880"/>
            <a:ext cx="379476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6360" y="1508760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6636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559552" y="13624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Rolling Bias Correction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59552" y="158191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≥192 test intervals (48h) accumulate, compute ratio of actual-to-lag-predicted load. Apply as scalar correction to lag features.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120640" y="2221992"/>
            <a:ext cx="379476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66360" y="2404872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6636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59552" y="22585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Volatility Monitoring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559552" y="247802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24h rolling std exceeds training P90 (~200 kW), switch to Q80/Q85 at peak. Accounts for elevated demand uncertainty.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120640" y="3118104"/>
            <a:ext cx="379476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66360" y="3300984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66360" y="3300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559552" y="31546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Event Detection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59552" y="33741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Monitor: temperature anomaly &gt;3°C below seasonal norm, rainfall &gt;30mm in 6h. Trigger: override to rolling 7-day median.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20640" y="4014216"/>
            <a:ext cx="379476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66360" y="4197096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41970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559552" y="40507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Post-Regime Retraining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559552" y="427024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new regime sustained 7+ days, fine-tune lag feature distributions. Preserves full training history. Recovers lag quality.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 - Interconnected Failure Modes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regulatory, structural, and technical risks compound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 - Interconnected Failure Modes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regulatory, structural, and technical risks compound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 PENALTY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09728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97280"/>
            <a:ext cx="2377440" cy="27432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rate escalation changes q*. Requires immediate model recalibration.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583680" y="109728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097280"/>
            <a:ext cx="2377440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2940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Lockdowns, cyclones, unforeseen events contaminate lag features.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20040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" y="3200400"/>
            <a:ext cx="237744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Contamination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boundaries always degrade lag-based models. Adaptive floor partially corrects.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0" y="320040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3200400"/>
            <a:ext cx="2377440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Tighter C2 + C3/C4 simultaneously = infeasible. Governance must acknowledge.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74720" y="1005840"/>
            <a:ext cx="2194560" cy="9144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0" y="1005840"/>
            <a:ext cx="2194560" cy="2743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044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20440" y="1325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Cyclones, heat waves amplify load uncertainty beyond model confidence bounds.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74720" y="3474720"/>
            <a:ext cx="2194560" cy="9144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74720" y="3474720"/>
            <a:ext cx="2194560" cy="274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0440" y="3474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2044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floor + volatility monitoring = self-regulating resilience mechanism.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0" y="1600200"/>
            <a:ext cx="914400" cy="8686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69280" y="1600200"/>
            <a:ext cx="914400" cy="8686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2560320" y="2560320"/>
            <a:ext cx="914400" cy="114300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669280" y="2560320"/>
            <a:ext cx="914400" cy="114300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2000" y="1920240"/>
            <a:ext cx="0" cy="1828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2000" y="2834640"/>
            <a:ext cx="0" cy="6400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2880" y="4663440"/>
            <a:ext cx="8732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penalty exposure is the intersection of three compounding risk dimensions - each must be monitored independently and in combination.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GRIDSHIELD - Final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→ Adaptation → Constrained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1097280"/>
            <a:ext cx="2834640" cy="3657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 the RIGHT problem - newsvendor quantile optimization under ABT asymmetric cost. 96.4% penalty reduction vs naive. q*=0.667 is not a choice, it is the mathematical optimum.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82112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82112" y="1097280"/>
            <a:ext cx="2834640" cy="36576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7832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Adaptation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55264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simultaneous shocks: regulatory (+50% peak penalty → q*=0.750) and structural (BtC lockdown + Cyclone Tauktae). 85% of penalty increase is structural - not addressable by model recalibration alone.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097280"/>
            <a:ext cx="2834640" cy="3657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Constraint Compliance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54496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Floor: Rs. 5,697 saved, peak penalty −15.2%, C1/C3/C4 satisfied. C2 mathematically proven infeasible with C3+C4 under force-majeure. 26 remaining violations fully attributed and documented.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82880" y="4434840"/>
            <a:ext cx="8732520" cy="548640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4453128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of reasoning across all three stages: same cost framework, same newsvendor principle, same data discipline - applied under evolving constraints.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2603</Words>
  <Application>Microsoft Macintosh PowerPoint</Application>
  <PresentationFormat>On-screen Show (16:9)</PresentationFormat>
  <Paragraphs>333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GRIDSHIELD — Executive Board Presentation</dc:title>
  <dc:subject>PptxGenJS Presentation</dc:subject>
  <dc:creator>Forecast Risk Advisory Team</dc:creator>
  <cp:lastModifiedBy>Arnav Gupta</cp:lastModifiedBy>
  <cp:revision>2</cp:revision>
  <dcterms:created xsi:type="dcterms:W3CDTF">2026-03-01T01:50:17Z</dcterms:created>
  <dcterms:modified xsi:type="dcterms:W3CDTF">2026-03-01T02:01:26Z</dcterms:modified>
</cp:coreProperties>
</file>