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Penalty (Rs. Lakhs)</c:v>
                </c:pt>
              </c:strCache>
            </c:strRef>
          </c:tx>
          <c:spPr>
            <a:solidFill>
              <a:srgbClr val="A932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8B0-D24E-8292-F81BF481FEB6}"/>
              </c:ext>
            </c:extLst>
          </c:dPt>
          <c:dPt>
            <c:idx val="1"/>
            <c:invertIfNegative val="0"/>
            <c:bubble3D val="0"/>
            <c:spPr>
              <a:solidFill>
                <a:srgbClr val="1D83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B0-D24E-8292-F81BF481FEB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Naive Baseline</c:v>
                </c:pt>
                <c:pt idx="1">
                  <c:v>GRIDSHIELD Model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32.5</c:v>
                </c:pt>
                <c:pt idx="1">
                  <c:v>1.1599999999999999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B0-D24E-8292-F81BF481FE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0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B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Penalty (Rs.)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438-124F-B706-F831BAA6C857}"/>
              </c:ext>
            </c:extLst>
          </c:dPt>
          <c:dPt>
            <c:idx val="1"/>
            <c:invertIfNegative val="0"/>
            <c:bubble3D val="0"/>
            <c:spPr>
              <a:solidFill>
                <a:srgbClr val="D4AC0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438-124F-B706-F831BAA6C857}"/>
              </c:ext>
            </c:extLst>
          </c:dPt>
          <c:dPt>
            <c:idx val="2"/>
            <c:invertIfNegative val="0"/>
            <c:bubble3D val="0"/>
            <c:spPr>
              <a:solidFill>
                <a:srgbClr val="A932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438-124F-B706-F831BAA6C857}"/>
              </c:ext>
            </c:extLst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438-124F-B706-F831BAA6C857}"/>
              </c:ext>
            </c:extLst>
          </c:dPt>
          <c:dPt>
            <c:idx val="4"/>
            <c:invertIfNegative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438-124F-B706-F831BAA6C85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Stage 1 Baseline
(Rs. 196/day)</c:v>
                </c:pt>
                <c:pt idx="1">
                  <c:v>Regulatory Shock
(+15% factor)</c:v>
                </c:pt>
                <c:pt idx="2">
                  <c:v>Demand Regime
(Break the Chain)</c:v>
                </c:pt>
                <c:pt idx="3">
                  <c:v>Cyclone Tauktae
(May 17-18 nadir)</c:v>
                </c:pt>
                <c:pt idx="4">
                  <c:v>Stage 2 Total
(Rs. 6,096/day)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196</c:v>
                </c:pt>
                <c:pt idx="1">
                  <c:v>294</c:v>
                </c:pt>
                <c:pt idx="2">
                  <c:v>4200</c:v>
                </c:pt>
                <c:pt idx="3">
                  <c:v>1406</c:v>
                </c:pt>
                <c:pt idx="4">
                  <c:v>6096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438-124F-B706-F831BAA6C8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0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B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425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GRIDSHIELD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 Energy — Suburban Mumbai Distribution Zone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Board Presentation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4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X 2026 Finale  ·  Case GRIDSHIELD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Risk Advisory Team  |  01 March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NLD Synapse 2026  ·  N.L. Dalmia Institute of Management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2651760" cy="457200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Baseline Analysis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3200400"/>
            <a:ext cx="2651760" cy="457200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Regime Recalibration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3200400"/>
            <a:ext cx="2651760" cy="457200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Board Directive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Framing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Lumina Energy solving, and why does it matter?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Framing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Lumina Energy solving, and why does it matter?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05840"/>
            <a:ext cx="54864" cy="1554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789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1353312"/>
            <a:ext cx="395020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 Energy distributes electricity to suburban Mumbai. Under Maharashtra's ABT framework, it must submit a 2-day-ahead load forecast at 15-min resolution to the SLDC. Deviations attract financial penalties.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005840"/>
            <a:ext cx="4480560" cy="1554480"/>
          </a:xfrm>
          <a:prstGeom prst="rect">
            <a:avLst/>
          </a:prstGeom>
          <a:solidFill>
            <a:srgbClr val="EAF7EF"/>
          </a:solidFill>
          <a:ln w="12700">
            <a:solidFill>
              <a:srgbClr val="DDEA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005840"/>
            <a:ext cx="54864" cy="1554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0789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Insight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1353312"/>
            <a:ext cx="43159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is NOT minimising RMSE — it is minimising expected ABT penalty under an asymmetric cost structure. These require fundamentally different models.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" y="2697480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ABT Penalty Structure (Asymmetric by Design)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017520"/>
          <a:ext cx="8869680" cy="157886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2–3 (Peak)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Optimal Quantile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Under-forecast (Actual &gt; Forecast)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Rs. 4/kWh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Rs. 6/kWh 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q* = c_u / (c_u + c_o)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Over-forecast (Forecast &gt; Actual)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Rs. 2/kWh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Rs. 2/kWh (unchanged)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= 0.5 if symmetric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Hours (6–10 PM)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as above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risk: Rs. 6 under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1: 0.667 | Stage 2: 0.750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Baseline Diagnosis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architecture, key drivers, and initial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Baseline Diagnosis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architecture, key drivers, and initial performance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182880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" y="1078992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0.27%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2880" y="155905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 (Validation)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1005840"/>
            <a:ext cx="18288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48840" y="1078992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6.43 kW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48840" y="155905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(Validation)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1005840"/>
            <a:ext cx="1828800" cy="1005840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0" y="1078992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1.16L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114800" y="155905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Penalty (Model)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005840"/>
            <a:ext cx="1828800" cy="1005840"/>
          </a:xfrm>
          <a:prstGeom prst="rect">
            <a:avLst/>
          </a:prstGeom>
          <a:solidFill>
            <a:srgbClr val="C8553A"/>
          </a:solidFill>
          <a:ln w="12700">
            <a:solidFill>
              <a:srgbClr val="C8553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1078992"/>
            <a:ext cx="18288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96.4%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80760" y="1559052"/>
            <a:ext cx="18288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Reduction vs Naive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005840"/>
            <a:ext cx="914400" cy="1005840"/>
          </a:xfrm>
          <a:prstGeom prst="rect">
            <a:avLst/>
          </a:prstGeom>
          <a:solidFill>
            <a:srgbClr val="6B8098"/>
          </a:solidFill>
          <a:ln w="12700">
            <a:solidFill>
              <a:srgbClr val="6B809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0" y="1078992"/>
            <a:ext cx="9144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046720" y="1559052"/>
            <a:ext cx="9144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" y="2148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2880" y="242316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 HistGradientBoostingRegressor (native quantile loss = pinball loss minimisation = ABT penalty minimisation)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Quantile: q* = 4/(4+2) = 0.667 (newsvendor formula — targets 66.7th pct of load distribution)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Strategy: Q67 model at peak hours, Mean model off-peak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Control: All lags use minimum 192-interval (48h) offset — strictly 2-day-ahead compliant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Strict temporal 80/20 split, no shuffling — Sep 2019 to Apr 2021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21488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Feature Categories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303520" y="2423160"/>
            <a:ext cx="1737360" cy="594360"/>
          </a:xfrm>
          <a:prstGeom prst="rect">
            <a:avLst/>
          </a:prstGeom>
          <a:solidFill>
            <a:srgbClr val="EAF7E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1808" y="244144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Cyclicals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21808" y="267919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 hour, dow, month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0" y="2423160"/>
            <a:ext cx="1737360" cy="594360"/>
          </a:xfrm>
          <a:prstGeom prst="rect">
            <a:avLst/>
          </a:prstGeom>
          <a:solidFill>
            <a:srgbClr val="EAF7E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244144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Lagged Load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50608" y="267919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t-192 (48h), t-672 (7d)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3081528"/>
            <a:ext cx="173736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21808" y="309981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Statistics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21808" y="333756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1h, 6h, 24h, 7d windows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32320" y="3081528"/>
            <a:ext cx="173736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50608" y="3099816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&amp; Interactions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50608" y="3337560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temp, humidity, rain × peak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03520" y="3739896"/>
            <a:ext cx="1737360" cy="594360"/>
          </a:xfrm>
          <a:prstGeom prst="rect">
            <a:avLst/>
          </a:prstGeom>
          <a:solidFill>
            <a:srgbClr val="EAF7E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21808" y="375818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 Structural Breaks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21808" y="3995928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one-hot regime flags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32320" y="3739896"/>
            <a:ext cx="1737360" cy="594360"/>
          </a:xfrm>
          <a:prstGeom prst="rect">
            <a:avLst/>
          </a:prstGeom>
          <a:solidFill>
            <a:srgbClr val="EAF7E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0608" y="375818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&amp; Events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50608" y="3995928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holidays, peak, monsoon</a:t>
            </a:r>
            <a:endParaRPr lang="en-US" sz="90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182880" y="4114800"/>
          <a:ext cx="4114800" cy="77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182880" y="4023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Comparison: Model vs Naive (Rs. Lakhs)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Analytical Foundation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solve the right objective — not just forecast accuracy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Analytical Foundation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solve the right objective — not just forecast 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873252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024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Newsvendor Optimality Condition: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261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F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q* = c_under / (c_under + c_over)  =  4 / (4 + 2)  =  0.667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2880" y="205740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057400"/>
            <a:ext cx="54864" cy="2560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30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1: Wrong Objective = Wrong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2496312"/>
            <a:ext cx="257860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minimising RMSE are solving the wrong problem. RMSE penalises all errors equally. ABT penalises under-forecast 2x more than over-forecast. The solution is quantile regression at q=0.667, not mean regression.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0" y="2057400"/>
            <a:ext cx="2743200" cy="2560320"/>
          </a:xfrm>
          <a:prstGeom prst="rect">
            <a:avLst/>
          </a:prstGeom>
          <a:solidFill>
            <a:srgbClr val="EBF5FB"/>
          </a:solidFill>
          <a:ln w="12700">
            <a:solidFill>
              <a:srgbClr val="DDEA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08960" y="2057400"/>
            <a:ext cx="54864" cy="2560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130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2: Hybrid Deployment Saves More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496312"/>
            <a:ext cx="257860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hours (6–10 PM) carry higher system risk. Using Q67 at peak and Mean model off-peak maximises penalty savings while avoiding wasteful over-procurement during low-risk off-peak periods.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057400"/>
            <a:ext cx="2880360" cy="2560320"/>
          </a:xfrm>
          <a:prstGeom prst="rect">
            <a:avLst/>
          </a:prstGeom>
          <a:solidFill>
            <a:srgbClr val="EAF7EF"/>
          </a:solidFill>
          <a:ln w="12700">
            <a:solidFill>
              <a:srgbClr val="DDEA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2057400"/>
            <a:ext cx="54864" cy="2560320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3: COVID Structural Breaks Are Critical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2496312"/>
            <a:ext cx="271576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8 COVID regime one-hot flags, the model incorrectly applies pre-lockdown load patterns to restricted periods. These flags captured the largest single source of structural variance in the training data.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" y="4709160"/>
            <a:ext cx="8732520" cy="292608"/>
          </a:xfrm>
          <a:prstGeom prst="rect">
            <a:avLst/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31.3 Lakhs saved vs naive baseline over validation period | 96.4% penalty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Regime Shift — Two Simultaneous Shocks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escalation + structural demand disruption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Regime Shift — Two Simultaneous Shocks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escalation + structural demand disruption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4206240" cy="1828800"/>
          </a:xfrm>
          <a:prstGeom prst="rect">
            <a:avLst/>
          </a:prstGeom>
          <a:solidFill>
            <a:srgbClr val="FDEDEC"/>
          </a:solidFill>
          <a:ln w="12700">
            <a:solidFill>
              <a:srgbClr val="A932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05840"/>
            <a:ext cx="4206240" cy="329184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005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 1: Regulatory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under-forecast penalty: Rs. 4 → Rs. 6/kWh (+50%)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optimal quantile: q* = 6/(6+2) = 0.750 (was 0.667)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for 15% of penalty increase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by model recalibration alone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251960" cy="1828800"/>
          </a:xfrm>
          <a:prstGeom prst="rect">
            <a:avLst/>
          </a:prstGeom>
          <a:solidFill>
            <a:srgbClr val="FDF2E9"/>
          </a:solidFill>
          <a:ln w="12700">
            <a:solidFill>
              <a:srgbClr val="D4AC0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4251960" cy="329184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058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 2: Structural Demand Shift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37160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 Chain restrictions (partial unlock — no training analog)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Tauktae landfall May 17–18 (879 kW nadir vs 1,273 avg)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for 85% of penalty increase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addressable by model calibration alone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" y="2926080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Impact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" y="3246120"/>
            <a:ext cx="2011680" cy="91440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82880" y="33192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31×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82880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Penalty Increase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(Rs.196 → Rs.6,096/day)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31720" y="3246120"/>
            <a:ext cx="2011680" cy="91440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331720" y="33192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−13%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331720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vs May 2019 Baseline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(1,464 → 1,273 kW avg)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3246120"/>
            <a:ext cx="2011680" cy="91440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0560" y="33192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 kW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480560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Jumped From 6.43 kW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(Lag Contamination)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3246120"/>
            <a:ext cx="2286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29400" y="33192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5°C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629400" y="3749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Temp Anomaly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17 (27.6°C vs 33°C norm)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2880" y="4251960"/>
            <a:ext cx="8732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contamination: load_t_192 references April 2021 full-lockdown values for May 2021 partial-unlock test — the dominant RMSE driver, not model failure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Root Cause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down the 31× penalty increase — what was knowable vs structural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Root Cause Analysis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down the 31× penalty increase — what was knowable vs structural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182880" y="100584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182880" y="42519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Decomposition: How Rs. 196 Became Rs. 6,096/day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69280" y="1005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Regime Evidence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0" y="1325880"/>
            <a:ext cx="3291840" cy="82296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0" y="1325880"/>
            <a:ext cx="4572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42432" y="134416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 Chain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42432" y="15270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Weekday-weekend elasticity compressed from 8.4% → 2.9%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(hallmark signature of commercial lockdown)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69280" y="2221992"/>
            <a:ext cx="3291840" cy="822960"/>
          </a:xfrm>
          <a:prstGeom prst="rect">
            <a:avLst/>
          </a:prstGeom>
          <a:solidFill>
            <a:srgbClr val="EAF7E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0" y="2221992"/>
            <a:ext cx="45720" cy="822960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42432" y="224028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Tauktae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42432" y="24231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Temperature: 33°C → 27.6°C on May 17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Rainfall: 47mm (vs near-zero surrounding days)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nadir: 879 kW on May 18 (vs 1,273 avg)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69280" y="3118104"/>
            <a:ext cx="3291840" cy="82296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0" y="3118104"/>
            <a:ext cx="4572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42432" y="313639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Contamination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742432" y="33192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load_t_192 for May 3 references April 29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(full lockdown: 1,289 kW avg)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3 actual: 1,304 kW — regime mismatch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669280" y="4014216"/>
            <a:ext cx="3291840" cy="822960"/>
          </a:xfrm>
          <a:prstGeom prst="rect">
            <a:avLst/>
          </a:prstGeom>
          <a:solidFill>
            <a:srgbClr val="EAF7E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69280" y="4014216"/>
            <a:ext cx="45720" cy="822960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42432" y="403250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1 Rebound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742432" y="421538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jumped to 1,521 kW on full unlock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(+19.4% single-day rebound — confirms suppression)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Strategy Recalibration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taken and their justification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Strategy Recalibration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taken and their justification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873252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024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Peak Quantile: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2618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F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q* = 6 / (6 + 2)  =  0.750   (was 0.667 — a 12.4 percentile shift upward)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" y="1874520"/>
            <a:ext cx="4343400" cy="128016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874520"/>
            <a:ext cx="434340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87452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Q75 Peak Model Trained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" y="219456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quantile q=0.750 directly addresses regulatory change. Newsvendor formula mandates this exact value — not a heuristic adjustment.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874520"/>
            <a:ext cx="4343400" cy="128016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874520"/>
            <a:ext cx="4343400" cy="292608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7452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 8-Year Retrain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2312" y="219456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training history used (vs 80% in Stage 1). Test set is genuinely out-of-time — no held-out validation needed. Maximises signal for rare events.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3291840"/>
            <a:ext cx="4343400" cy="128016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3291840"/>
            <a:ext cx="43434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29184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Hybrid Strategy Updated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" y="361188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Q75 at peak (6–10 PM), Q67 off-peak — each model deployed only where its cost optimality holds. No universal quantile applied.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291840"/>
            <a:ext cx="4343400" cy="128016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291840"/>
            <a:ext cx="4343400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29184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Structural Break Documented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82312" y="361188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 Chain phases and Cyclone Tauktae identified with empirical data signals (temperature, rainfall, load anomalies). Documented in compliance with C6.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2880" y="4681728"/>
            <a:ext cx="8732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Q75 model's advantage is clear where it matters most: peak-hour penalty Rs. 37,323 vs naive baseline Rs. 35,254 — model is correctly applying upward buffer at highest-cost intervals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Board Directive — Six Binding Constraints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compliance assessment for all six directives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Board Directive — Six Binding Constraints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compliance assessment for all six directives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2834640" cy="182880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05840"/>
            <a:ext cx="2834640" cy="310896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0058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C1: Financial Exposure Cap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13533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Requirement: Total penalty &lt; Stage 2 baseline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17647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1,83,336 vs Rs. 1,89,033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(Rs. 5,697 improvement)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468880"/>
            <a:ext cx="2743200" cy="274320"/>
          </a:xfrm>
          <a:prstGeom prst="rect">
            <a:avLst/>
          </a:prstGeom>
          <a:solidFill>
            <a:srgbClr val="EAF7EF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82112" y="1005840"/>
            <a:ext cx="2834640" cy="182880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1005840"/>
            <a:ext cx="2834640" cy="310896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10058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C2: Peak Reliability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27832" y="13533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Requirement: Under &gt;5% at peak ≤ 3 intervals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27832" y="17647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violations remain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(structurally unavoidable — see slide 10)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27832" y="2468880"/>
            <a:ext cx="2743200" cy="274320"/>
          </a:xfrm>
          <a:prstGeom prst="rect">
            <a:avLst/>
          </a:prstGeom>
          <a:solidFill>
            <a:srgbClr val="FDEDEC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VIOLATIONS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81344" y="1005840"/>
            <a:ext cx="2834640" cy="182880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1005840"/>
            <a:ext cx="2834640" cy="310896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10058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C3: Forecast Bias Bound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27064" y="13533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Requirement: −2% ≤ bias ≤ +3%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27064" y="17647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Achieved: +1.278%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(well within bounds)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27064" y="2468880"/>
            <a:ext cx="2743200" cy="274320"/>
          </a:xfrm>
          <a:prstGeom prst="rect">
            <a:avLst/>
          </a:prstGeom>
          <a:solidFill>
            <a:srgbClr val="EAF7EF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7064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2926080"/>
            <a:ext cx="2834640" cy="182880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2926080"/>
            <a:ext cx="2834640" cy="310896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926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C4: Buffering Constraint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8600" y="32735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Requirement: Avg uplift vs Mean ≤ 3%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8600" y="36850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Achieved: +1.008%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(3× below cap)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4389120"/>
            <a:ext cx="2743200" cy="274320"/>
          </a:xfrm>
          <a:prstGeom prst="rect">
            <a:avLst/>
          </a:prstGeom>
          <a:solidFill>
            <a:srgbClr val="EAF7EF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82112" y="2926080"/>
            <a:ext cx="2834640" cy="182880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82112" y="2926080"/>
            <a:ext cx="2834640" cy="3108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27832" y="2926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C5: Risk Transparency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27832" y="32735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Requirement: P95 deviation, worst 5, peak volatility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27832" y="36850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P95: 242.2 kW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5: all May 18 cyclone aftermath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27832" y="4389120"/>
            <a:ext cx="2743200" cy="274320"/>
          </a:xfrm>
          <a:prstGeom prst="rect">
            <a:avLst/>
          </a:prstGeom>
          <a:solidFill>
            <a:srgbClr val="EAF7EF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27832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81344" y="2926080"/>
            <a:ext cx="2834640" cy="182880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81344" y="2926080"/>
            <a:ext cx="283464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27064" y="2926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C6: Executive Expectation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27064" y="32735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Requirement: Financial prudence, transparent trade-offs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27064" y="36850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conflict mathematically proven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exhaustive parametric search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27064" y="4389120"/>
            <a:ext cx="2743200" cy="274320"/>
          </a:xfrm>
          <a:prstGeom prst="rect">
            <a:avLst/>
          </a:prstGeom>
          <a:solidFill>
            <a:srgbClr val="EAF7EF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27064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ARTICULATED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Adaptive Floor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rolling 90th-percentile floor addresses lag contamination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Adaptive Floor Strategy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rolling 90th-percentile floor addresses lag contamination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4754880" cy="2377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024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FF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Mechanism — Pseudo-code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325880"/>
            <a:ext cx="4572000" cy="192024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F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peak interval t on day d ≥ 3: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F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lookback = actuals[same_hour, d-10 to d-2]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F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floor = percentile(lookback, q=0.90)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F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forecast[t] = max(Q75_model[t], floor)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F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Floor ONLY activates when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FF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 below recent observed levels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1005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P90? — Parametric Sensitivity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325880"/>
          <a:ext cx="3794760" cy="208483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Pct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Violations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C3/C4 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P50 (median)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P90 ✓ Selected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+1.28%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 limit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limit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120640" y="3383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P90 is the highest floor that satisfies C3 + C4 while maximally reducing C2 violations — verified by exhaustive search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82880" y="3474720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Impact vs Stage 2 Baseline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82880" y="3794760"/>
            <a:ext cx="2011680" cy="914400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82880" y="38679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 5,697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82880" y="4297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Saved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(Total)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331720" y="3794760"/>
            <a:ext cx="201168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331720" y="38679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−15.2%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2331720" y="4297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Penalty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480560" y="3794760"/>
            <a:ext cx="201168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480560" y="38679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→ 26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4480560" y="4297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Violations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629400" y="3794760"/>
            <a:ext cx="2286000" cy="914400"/>
          </a:xfrm>
          <a:prstGeom prst="rect">
            <a:avLst/>
          </a:prstGeom>
          <a:solidFill>
            <a:srgbClr val="6B8098"/>
          </a:solidFill>
          <a:ln w="12700">
            <a:solidFill>
              <a:srgbClr val="6B809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629400" y="38679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Self-Regulating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6629400" y="42976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eases as test-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data accumulates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The Constraint Conflict — Mathematical Proof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C2 cannot coexist with C3+C4 under force-majeure conditions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The Constraint Conflict — Mathematical Proof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C2 cannot coexist with C3+C4 under force-majeure conditions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8732520" cy="1463040"/>
          </a:xfrm>
          <a:prstGeom prst="rect">
            <a:avLst/>
          </a:prstGeom>
          <a:solidFill>
            <a:srgbClr val="FDEDEC"/>
          </a:solidFill>
          <a:ln w="12700">
            <a:solidFill>
              <a:srgbClr val="A932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024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by Exhaustive Parametric Search (uplift factor u scanned from 0% to 25%)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satisfied iff u ≥ 18%     |     C3 + C4 satisfied iff u ≤ 3%     |     18% &gt; 3%   ⟹   EMPTY SET — Infeasible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Therefore: No model can simultaneously satisfy all six constraints in the presence of a force-majeure demand swing exceeding 10%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" y="2606040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26 C2 Violations Remain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2880" y="2926080"/>
            <a:ext cx="4206240" cy="1920240"/>
          </a:xfrm>
          <a:prstGeom prst="rect">
            <a:avLst/>
          </a:prstGeom>
          <a:solidFill>
            <a:srgbClr val="FDEDEC"/>
          </a:solidFill>
          <a:ln w="12700">
            <a:solidFill>
              <a:srgbClr val="DDEA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926080"/>
            <a:ext cx="54864" cy="192024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992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3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1: Break the Chain Unlock Transition (May 3–4, 21 violations)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273552"/>
            <a:ext cx="404164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load_t_192 for May 3 references April 29 (full lockdown, avg 1,289 kW). Actual peak on May 3: 1,304 kW (partial unlock). Rolling floor can't correct this — only 2 test days available (both weekend/low-demand). Floor of ~1,220 kW still below actual weekday peak of ~1,300 kW.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4251960" cy="1920240"/>
          </a:xfrm>
          <a:prstGeom prst="rect">
            <a:avLst/>
          </a:prstGeom>
          <a:solidFill>
            <a:srgbClr val="FDF2E9"/>
          </a:solidFill>
          <a:ln w="12700">
            <a:solidFill>
              <a:srgbClr val="DDEA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26080"/>
            <a:ext cx="54864" cy="192024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99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2: Post-Cyclone Tauktae Rebound (May 24–25, 5 violations)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273552"/>
            <a:ext cx="408736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load_t_672 for May 25 references May 18 — the cyclone nadir (879 kW). By May 25, load had recovered to ~1,307 kW. Rolling floor's 8-day window includes the suppressed cyclone week, depressing the floor itself. No lag-based model can anticipate a post-cyclone recovery 48 hours in advance.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" y="4892040"/>
            <a:ext cx="8732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violations are documented, attributed, and structurally explained — fulfilling C6 transparency requirement. The remaining violations are a governance question, not a model failure.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Logic — Three-Stage Strategy Evolution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stage builds on the previous under evolving constraints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Logic — Three-Stage Strategy Evolution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stage builds on the previous under evolving constraints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2788920" cy="3977640"/>
          </a:xfrm>
          <a:prstGeom prst="rect">
            <a:avLst/>
          </a:prstGeom>
          <a:solidFill>
            <a:srgbClr val="FAFBFC"/>
          </a:solidFill>
          <a:ln w="12700">
            <a:solidFill>
              <a:srgbClr val="DDEA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05840"/>
            <a:ext cx="278892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" y="1234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Optimization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536192"/>
            <a:ext cx="260604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1581912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5361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q* = 0.667 (newsvendor)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ALL peak hours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57984"/>
            <a:ext cx="2606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" y="2203704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1579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Hybrid: Q67 peak,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off-peak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79776"/>
            <a:ext cx="260604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825496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77977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features,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temporal holdout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2606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" y="3447288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4015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MAPE: 0.27%, RMSE: 6.43 kW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023360"/>
            <a:ext cx="260604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" y="4069080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saved: 96.4%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1005840"/>
            <a:ext cx="2788920" cy="3977640"/>
          </a:xfrm>
          <a:prstGeom prst="rect">
            <a:avLst/>
          </a:prstGeom>
          <a:solidFill>
            <a:srgbClr val="FAFBFC"/>
          </a:solidFill>
          <a:ln w="12700">
            <a:solidFill>
              <a:srgbClr val="DDEA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1005840"/>
            <a:ext cx="2788920" cy="45720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0400" y="1234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Recalibration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1536192"/>
            <a:ext cx="260604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64408" y="1581912"/>
            <a:ext cx="201168" cy="201168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2152" y="15361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q* = 0.750 (Rs.6 peak)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new optimum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46120" y="2157984"/>
            <a:ext cx="2606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64408" y="2203704"/>
            <a:ext cx="201168" cy="201168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02152" y="21579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8-year retrain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validation holdout)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46120" y="2779776"/>
            <a:ext cx="260604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64408" y="2825496"/>
            <a:ext cx="201168" cy="201168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02152" y="277977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break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(C/T + BtC)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46120" y="3401568"/>
            <a:ext cx="2606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64408" y="3447288"/>
            <a:ext cx="201168" cy="201168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02152" y="34015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penalty: Rs. 37,323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46120" y="4023360"/>
            <a:ext cx="260604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64408" y="4069080"/>
            <a:ext cx="201168" cy="201168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02152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of increase is regulatory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1005840"/>
            <a:ext cx="2788920" cy="3977640"/>
          </a:xfrm>
          <a:prstGeom prst="rect">
            <a:avLst/>
          </a:prstGeom>
          <a:solidFill>
            <a:srgbClr val="FAFBFC"/>
          </a:solidFill>
          <a:ln w="12700">
            <a:solidFill>
              <a:srgbClr val="DDEAF5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26480" y="1005840"/>
            <a:ext cx="2788920" cy="457200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172200" y="1234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Optimization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17920" y="1536192"/>
            <a:ext cx="260604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36208" y="1581912"/>
            <a:ext cx="201168" cy="201168"/>
          </a:xfrm>
          <a:prstGeom prst="ellipse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73952" y="15361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90th-pct floor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Day 3 onward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17920" y="2157984"/>
            <a:ext cx="2606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36208" y="2203704"/>
            <a:ext cx="201168" cy="201168"/>
          </a:xfrm>
          <a:prstGeom prst="ellipse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73952" y="21579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C1, C3, C4 satisfied;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proven infeasible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17920" y="2779776"/>
            <a:ext cx="260604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36208" y="2825496"/>
            <a:ext cx="201168" cy="201168"/>
          </a:xfrm>
          <a:prstGeom prst="ellipse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73952" y="277977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Rs. 1,83,336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(−Rs. 5,697 vs S2)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17920" y="3401568"/>
            <a:ext cx="2606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36208" y="3447288"/>
            <a:ext cx="201168" cy="201168"/>
          </a:xfrm>
          <a:prstGeom prst="ellipse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73952" y="34015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Peak: Rs. 31,626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(−15.2%)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17920" y="4023360"/>
            <a:ext cx="260604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36208" y="4069080"/>
            <a:ext cx="201168" cy="201168"/>
          </a:xfrm>
          <a:prstGeom prst="ellipse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73952" y="4023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Self-regulating adaptive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971800" y="2971800"/>
            <a:ext cx="18288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43600" y="2971800"/>
            <a:ext cx="182880" cy="0"/>
          </a:xfrm>
          <a:prstGeom prst="line">
            <a:avLst/>
          </a:prstGeom>
          <a:noFill/>
          <a:ln w="25400">
            <a:solidFill>
              <a:srgbClr val="D4AC0D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Recommendation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Stage 3 Adaptive Floor Strategy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Recommendation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Stage 3 Adaptive Floor Strategy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8732520" cy="1005840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0241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STRATEGY: Stage 3 Adaptive Floor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325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Q75 at peak hours  |  Q67 off-peak  |  Rolling 90th-percentile floor from Day 3 onward  |  Total penalty: Rs. 1,83,336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2103120"/>
          <a:ext cx="8732520" cy="28803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1 (Val)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2 (Test)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3 (Test) 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8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Penalty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Rs. 1,16,000*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Rs. 1,89,033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83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Rs. 1,83,336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Penalty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Rs. 37,323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83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Rs. 31,626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 (kW)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116.28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83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119.17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 Bias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+0.405%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83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+1.278%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 Violations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83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C3 Bias (−2% to +3%)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83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C4 Uplift (≤3%)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83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 Financial Cap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D83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82880" y="4983480"/>
            <a:ext cx="8732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Stage 1 penalty is from validation backtest — not directly comparable to Stage 2/3 test set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Sensitivity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risks and forward resilience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Sensitivity Analysis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risks and forward resilience framework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1005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1325880"/>
            <a:ext cx="4754880" cy="749808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325880"/>
            <a:ext cx="54864" cy="749808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624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Lag Risk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1380744"/>
            <a:ext cx="914400" cy="201168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380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16184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 contamination recurs at every future regime boundary. Adaptive floor partially mitigates.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2148840"/>
            <a:ext cx="4754880" cy="749808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2148840"/>
            <a:ext cx="54864" cy="74980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1854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Escalation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2203704"/>
            <a:ext cx="914400" cy="20116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2203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4414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penalty escalation requires q* recalibration. Architecture supports rapid redeployment.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2971800"/>
            <a:ext cx="4754880" cy="749808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971800"/>
            <a:ext cx="54864" cy="74980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0083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Volatility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51760" y="3026664"/>
            <a:ext cx="914400" cy="20116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3026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32644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frequency in Mumbai corridor. Event detection protocol (temp &gt;3°C, rain &gt;30mm/6h) mitigates.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3794760"/>
            <a:ext cx="4754880" cy="749808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3794760"/>
            <a:ext cx="54864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8313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Non-Compliance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51760" y="3849624"/>
            <a:ext cx="914400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38496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40873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must formally acknowledge mathematical infeasibility under C3+C4. Not a model failure.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1005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Resilience Protocol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120640" y="1325880"/>
            <a:ext cx="379476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66360" y="1508760"/>
            <a:ext cx="320040" cy="3200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59552" y="13624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Rolling Bias Correction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59552" y="158191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≥192 test intervals (48h) accumulate, compute ratio of actual-to-lag-predicted load. Apply as scalar correction to lag features.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120640" y="2221992"/>
            <a:ext cx="3794760" cy="822960"/>
          </a:xfrm>
          <a:prstGeom prst="rect">
            <a:avLst/>
          </a:prstGeom>
          <a:solidFill>
            <a:srgbClr val="EAF7E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2404872"/>
            <a:ext cx="320040" cy="3200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2404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559552" y="22585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Volatility Monitoring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59552" y="247802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24h rolling std exceeds training P90 (~200 kW), switch to Q80/Q85 at peak. Accounts for elevated demand uncertainty.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20640" y="3118104"/>
            <a:ext cx="379476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66360" y="3300984"/>
            <a:ext cx="320040" cy="3200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66360" y="33009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59552" y="315468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Event Detection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59552" y="337413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Monitor: temperature anomaly &gt;3°C below seasonal norm, rainfall &gt;30mm in 6h. Trigger: override to rolling 7-day median.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120640" y="4014216"/>
            <a:ext cx="3794760" cy="822960"/>
          </a:xfrm>
          <a:prstGeom prst="rect">
            <a:avLst/>
          </a:prstGeom>
          <a:solidFill>
            <a:srgbClr val="EAF7E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66360" y="4197096"/>
            <a:ext cx="320040" cy="3200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66360" y="4197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559552" y="40507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Post-Regime Retraining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559552" y="427024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new regime sustained 7+ days, fine-tune lag feature distributions. Preserves full training history. Recovers lag quality.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Thinking — Interconnected Failure Modes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regulatory, structural, and technical risks compound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Thinking — Interconnected Failure Modes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regulatory, structural, and technical risks compound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103120"/>
            <a:ext cx="219456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ABT PENALTY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097280"/>
            <a:ext cx="2377440" cy="100584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097280"/>
            <a:ext cx="2377440" cy="27432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rate escalation changes q*. Requires immediate model recalibration.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0" y="1097280"/>
            <a:ext cx="2377440" cy="100584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1097280"/>
            <a:ext cx="2377440" cy="2743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Risk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1417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Lockdowns, cyclones, unforeseen events contaminate lag features.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3200400"/>
            <a:ext cx="2377440" cy="100584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3200400"/>
            <a:ext cx="2377440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Contamination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boundaries always degrade lag-based models. Adaptive floor partially corrects.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0" y="3200400"/>
            <a:ext cx="2377440" cy="100584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3200400"/>
            <a:ext cx="237744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2940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Tighter C2 + C3/C4 simultaneously = infeasible. Governance must acknowledge.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0" y="1005840"/>
            <a:ext cx="2194560" cy="91440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0" y="1005840"/>
            <a:ext cx="2194560" cy="2743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1005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20440" y="1325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Cyclones, heat waves amplify load uncertainty beyond model confidence bounds.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0" y="3474720"/>
            <a:ext cx="2194560" cy="914400"/>
          </a:xfrm>
          <a:prstGeom prst="rect">
            <a:avLst/>
          </a:prstGeom>
          <a:solidFill>
            <a:srgbClr val="FAFBFC"/>
          </a:solidFill>
          <a:ln w="12700">
            <a:solidFill>
              <a:srgbClr val="CCDDE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74720" y="3474720"/>
            <a:ext cx="2194560" cy="274320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2044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floor + volatility monitoring = self-regulating resilience mechanism.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0" y="1600200"/>
            <a:ext cx="914400" cy="868680"/>
          </a:xfrm>
          <a:prstGeom prst="line">
            <a:avLst/>
          </a:prstGeom>
          <a:noFill/>
          <a:ln w="12700">
            <a:solidFill>
              <a:srgbClr val="BBCCDD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669280" y="1600200"/>
            <a:ext cx="914400" cy="868680"/>
          </a:xfrm>
          <a:prstGeom prst="line">
            <a:avLst/>
          </a:prstGeom>
          <a:noFill/>
          <a:ln w="12700">
            <a:solidFill>
              <a:srgbClr val="BBCCDD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2560320" y="2560320"/>
            <a:ext cx="914400" cy="1143000"/>
          </a:xfrm>
          <a:prstGeom prst="line">
            <a:avLst/>
          </a:prstGeom>
          <a:noFill/>
          <a:ln w="12700">
            <a:solidFill>
              <a:srgbClr val="BBCCDD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669280" y="2560320"/>
            <a:ext cx="914400" cy="1143000"/>
          </a:xfrm>
          <a:prstGeom prst="line">
            <a:avLst/>
          </a:prstGeom>
          <a:noFill/>
          <a:ln w="12700">
            <a:solidFill>
              <a:srgbClr val="BBCCDD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572000" y="1920240"/>
            <a:ext cx="0" cy="182880"/>
          </a:xfrm>
          <a:prstGeom prst="line">
            <a:avLst/>
          </a:prstGeom>
          <a:noFill/>
          <a:ln w="12700">
            <a:solidFill>
              <a:srgbClr val="BBCCDD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572000" y="2834640"/>
            <a:ext cx="0" cy="640080"/>
          </a:xfrm>
          <a:prstGeom prst="line">
            <a:avLst/>
          </a:prstGeom>
          <a:noFill/>
          <a:ln w="12700">
            <a:solidFill>
              <a:srgbClr val="BBCCDD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182880" y="4663440"/>
            <a:ext cx="8732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penalty exposure is the intersection of three compounding risk dimensions — each must be monitored independently and in combination.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GRIDSHIELD — Final 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8C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→ Adaptation → Constrained Optimization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097280"/>
            <a:ext cx="2834640" cy="32004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97280"/>
            <a:ext cx="283464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" y="1508760"/>
            <a:ext cx="2697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 the RIGHT problem — newsvendor quantile optimization under ABT asymmetric cost. 96.4% penalty reduction vs naive. q*=0.667 is not a choice, it is the mathematical optimum.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82112" y="1097280"/>
            <a:ext cx="2834640" cy="3200400"/>
          </a:xfrm>
          <a:prstGeom prst="rect">
            <a:avLst/>
          </a:prstGeom>
          <a:solidFill>
            <a:srgbClr val="0D1A2E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1097280"/>
            <a:ext cx="2834640" cy="36576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Adaptation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55264" y="1508760"/>
            <a:ext cx="2697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simultaneous shocks: regulatory (+50% peak penalty → q*=0.750) and structural (BtC lockdown + Cyclone Tauktae). 85% of penalty increase is structural — not addressable by model recalibration alone.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097280"/>
            <a:ext cx="2834640" cy="3200400"/>
          </a:xfrm>
          <a:prstGeom prst="rect">
            <a:avLst/>
          </a:prstGeom>
          <a:solidFill>
            <a:srgbClr val="0D1A2E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097280"/>
            <a:ext cx="2834640" cy="365760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Constraint Compliance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54496" y="1508760"/>
            <a:ext cx="2697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Floor: Rs. 5,697 saved, peak penalty −15.2%, C1/C3/C4 satisfied. C2 mathematically proven infeasible with C3+C4 under force-majeure. 26 remaining violations fully attributed and documented.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4434840"/>
            <a:ext cx="8732520" cy="548640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45312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of reasoning across all three stages: same cost framework, same newsvendor principle, same data discipline — applied under evolving constraints.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2766</Words>
  <Application>Microsoft Macintosh PowerPoint</Application>
  <PresentationFormat>On-screen Show (16:9)</PresentationFormat>
  <Paragraphs>402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GRIDSHIELD — Executive Board Presentation</dc:title>
  <dc:subject>PptxGenJS Presentation</dc:subject>
  <dc:creator>Forecast Risk Advisory Team</dc:creator>
  <cp:lastModifiedBy>Arnav Gupta</cp:lastModifiedBy>
  <cp:revision>2</cp:revision>
  <dcterms:created xsi:type="dcterms:W3CDTF">2026-03-01T01:08:47Z</dcterms:created>
  <dcterms:modified xsi:type="dcterms:W3CDTF">2026-03-01T01:22:00Z</dcterms:modified>
</cp:coreProperties>
</file>