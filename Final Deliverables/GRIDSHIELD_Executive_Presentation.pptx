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Penalty (Rs. Lakhs)</c:v>
                </c:pt>
              </c:strCache>
            </c:strRef>
          </c:tx>
          <c:spPr>
            <a:solidFill>
              <a:srgbClr val="A932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9322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D8348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Naive Baseline</c:v>
                  </c:pt>
                  <c:pt idx="1">
                    <c:v>GRIDSHIELD Model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32.5</c:v>
                </c:pt>
                <c:pt idx="1">
                  <c:v>1.16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2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809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AFBF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Daily Penalty (Rs.)</c:v>
                </c:pt>
              </c:strCache>
            </c:strRef>
          </c:tx>
          <c:spPr>
            <a:solidFill>
              <a:srgbClr val="0D737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D737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4AC0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9322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B2A4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Stage 1 Baseline
(Rs. 196/day)</c:v>
                  </c:pt>
                  <c:pt idx="1">
                    <c:v>Regulatory Shock
(+15% factor)</c:v>
                  </c:pt>
                  <c:pt idx="2">
                    <c:v>Demand Regime
(Break the Chain)</c:v>
                  </c:pt>
                  <c:pt idx="3">
                    <c:v>Cyclone Tauktae
(May 17-18 nadir)</c:v>
                  </c:pt>
                  <c:pt idx="4">
                    <c:v>Stage 2 Total
(Rs. 6,096/day)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196</c:v>
                </c:pt>
                <c:pt idx="1">
                  <c:v>294</c:v>
                </c:pt>
                <c:pt idx="2">
                  <c:v>4200</c:v>
                </c:pt>
                <c:pt idx="3">
                  <c:v>1406</c:v>
                </c:pt>
                <c:pt idx="4">
                  <c:v>6096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A1A2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809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AFBFC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0D7377">
              <a:alpha val="15000"/>
            </a:srgbClr>
          </a:solidFill>
          <a:ln w="12700">
            <a:solidFill>
              <a:srgbClr val="0D7377">
                <a:alpha val="1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023360"/>
            <a:ext cx="9144000" cy="54864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731520"/>
            <a:ext cx="6858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spc="8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GRIDSHIELD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Lumina Energy — Suburban Mumbai Distribution Zone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219456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FF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Board Presentation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4FF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Decode X 2026 Finale  ·  Case GRIDSHIELD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4206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Forecast Risk Advisory Team  |  01 March 2026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4526280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NLD Synapse 2026  ·  N.L. Dalmia Institute of Management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3200400"/>
            <a:ext cx="2651760" cy="457200"/>
          </a:xfrm>
          <a:prstGeom prst="rect">
            <a:avLst/>
          </a:prstGeom>
          <a:solidFill>
            <a:srgbClr val="0D7377">
              <a:alpha val="30000"/>
            </a:srgbClr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2004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1: Baseline Analysis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1840" y="3200400"/>
            <a:ext cx="2651760" cy="457200"/>
          </a:xfrm>
          <a:prstGeom prst="rect">
            <a:avLst/>
          </a:prstGeom>
          <a:solidFill>
            <a:srgbClr val="0D7377">
              <a:alpha val="30000"/>
            </a:srgbClr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91840" y="32004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2: Regime Recalibration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26480" y="3200400"/>
            <a:ext cx="2651760" cy="457200"/>
          </a:xfrm>
          <a:prstGeom prst="rect">
            <a:avLst/>
          </a:prstGeom>
          <a:solidFill>
            <a:srgbClr val="0D7377">
              <a:alpha val="30000"/>
            </a:srgbClr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26480" y="32004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3: Board Directive Compliance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16459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Framing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658368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Lumina Energy solving, and why does it matter?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09728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Framing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59436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Lumina Energy solving, and why does it matter?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82880" y="1005840"/>
            <a:ext cx="41148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5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82880" y="1005840"/>
            <a:ext cx="54864" cy="155448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1078992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Context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74320" y="1353312"/>
            <a:ext cx="395020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Lumina Energy distributes electricity to suburban Mumbai. Under Maharashtra's ABT framework, it must submit a 2-day-ahead load forecast at 15-min resolution to the SLDC. Deviations attract financial penalties.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434840" y="1005840"/>
            <a:ext cx="4480560" cy="1554480"/>
          </a:xfrm>
          <a:prstGeom prst="rect">
            <a:avLst/>
          </a:prstGeom>
          <a:solidFill>
            <a:srgbClr val="EAF7EF"/>
          </a:solidFill>
          <a:ln w="12700">
            <a:solidFill>
              <a:srgbClr val="DDEAF5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434840" y="1005840"/>
            <a:ext cx="54864" cy="155448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26280" y="1078992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7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Core Insight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26280" y="1353312"/>
            <a:ext cx="431596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objective is NOT minimising RMSE — it is minimising expected ABT penalty under an asymmetric cost structure. These require fundamentally different models.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82880" y="2697480"/>
            <a:ext cx="8732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ABT Penalty Structure (Asymmetric by Design)</a:t>
            </a:r>
            <a:endParaRPr lang="en-US" sz="13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3017520"/>
          <a:ext cx="8732520" cy="1691640"/>
        </p:xfrm>
        <a:graphic>
          <a:graphicData uri="http://schemas.openxmlformats.org/drawingml/2006/table">
            <a:tbl>
              <a:tblPr/>
              <a:tblGrid>
                <a:gridCol w="2926080"/>
                <a:gridCol w="1828800"/>
                <a:gridCol w="2286000"/>
                <a:gridCol w="1828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Condition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Stage 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Stage 2–3 (Peak)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Optimal Quantile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Under-forecast (Actual &gt; Forecast)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Rs. 4/kWh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Rs. 6/kWh ▲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q* = c_u / (c_u + c_o)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Over-forecast (Forecast &gt; Actual)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Rs. 2/kWh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Rs. 2/kWh (unchanged)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Always = 0.5 if symmetric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Peak Hours (6–10 PM)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as above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Higher risk: Rs. 6 under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Stage 1: 0.667 | Stage 2: 0.750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16459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1: Baseline Diagnosis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658368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architecture, key drivers, and initial performance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09728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1: Baseline Diagnosis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59436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architecture, key drivers, and initial performance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82880" y="1005840"/>
            <a:ext cx="1828800" cy="100584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82880" y="1078992"/>
            <a:ext cx="182880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0.27%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182880" y="1559052"/>
            <a:ext cx="18288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 (Validation)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148840" y="1005840"/>
            <a:ext cx="18288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148840" y="1078992"/>
            <a:ext cx="182880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6.43 kW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2148840" y="1559052"/>
            <a:ext cx="18288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RMSE (Validation)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114800" y="1005840"/>
            <a:ext cx="1828800" cy="1005840"/>
          </a:xfrm>
          <a:prstGeom prst="rect">
            <a:avLst/>
          </a:prstGeom>
          <a:solidFill>
            <a:srgbClr val="1D8348"/>
          </a:solidFill>
          <a:ln w="12700">
            <a:solidFill>
              <a:srgbClr val="1D834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114800" y="1078992"/>
            <a:ext cx="182880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Rs. 1.16L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4114800" y="1559052"/>
            <a:ext cx="18288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Penalty (Model)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80760" y="1005840"/>
            <a:ext cx="1828800" cy="1005840"/>
          </a:xfrm>
          <a:prstGeom prst="rect">
            <a:avLst/>
          </a:prstGeom>
          <a:solidFill>
            <a:srgbClr val="C8553A"/>
          </a:solidFill>
          <a:ln w="12700">
            <a:solidFill>
              <a:srgbClr val="C8553A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080760" y="1078992"/>
            <a:ext cx="182880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96.4%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6080760" y="1559052"/>
            <a:ext cx="18288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Penalty Reduction vs Naive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046720" y="1005840"/>
            <a:ext cx="914400" cy="1005840"/>
          </a:xfrm>
          <a:prstGeom prst="rect">
            <a:avLst/>
          </a:prstGeom>
          <a:solidFill>
            <a:srgbClr val="6B8098"/>
          </a:solidFill>
          <a:ln w="12700">
            <a:solidFill>
              <a:srgbClr val="6B809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046720" y="1078992"/>
            <a:ext cx="91440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40+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8046720" y="1559052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82880" y="21488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Architecture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82880" y="2423160"/>
            <a:ext cx="49377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Algorithm: HistGradientBoostingRegressor (native quantile loss = pinball loss minimisation = ABT penalty minimisation)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Optimal Quantile: q* = 4/(4+2) = 0.667 (newsvendor formula — targets 66.7th pct of load distribution)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Hybrid Strategy: Q67 model at peak hours, Mean model off-peak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Leakage Control: All lags use minimum 192-interval (48h) offset — strictly 2-day-ahead compliant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Validation: Strict temporal 80/20 split, no shuffling — Sep 2019 to Apr 2021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303520" y="214884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Feature Categories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303520" y="2423160"/>
            <a:ext cx="1737360" cy="594360"/>
          </a:xfrm>
          <a:prstGeom prst="rect">
            <a:avLst/>
          </a:prstGeom>
          <a:solidFill>
            <a:srgbClr val="EAF7EF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321808" y="2441448"/>
            <a:ext cx="1700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Temporal Cyclicals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321808" y="2679192"/>
            <a:ext cx="17007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sin/cos hour, dow, month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132320" y="2423160"/>
            <a:ext cx="1737360" cy="594360"/>
          </a:xfrm>
          <a:prstGeom prst="rect">
            <a:avLst/>
          </a:prstGeom>
          <a:solidFill>
            <a:srgbClr val="EAF7EF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50608" y="2441448"/>
            <a:ext cx="1700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Lagged Load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150608" y="2679192"/>
            <a:ext cx="17007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t-192 (48h), t-672 (7d)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303520" y="3081528"/>
            <a:ext cx="1737360" cy="594360"/>
          </a:xfrm>
          <a:prstGeom prst="rect">
            <a:avLst/>
          </a:prstGeom>
          <a:solidFill>
            <a:srgbClr val="EBF5FB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321808" y="3099816"/>
            <a:ext cx="1700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Rolling Statistics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321808" y="3337560"/>
            <a:ext cx="17007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1h, 6h, 24h, 7d windows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7132320" y="3081528"/>
            <a:ext cx="1737360" cy="594360"/>
          </a:xfrm>
          <a:prstGeom prst="rect">
            <a:avLst/>
          </a:prstGeom>
          <a:solidFill>
            <a:srgbClr val="EBF5FB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150608" y="3099816"/>
            <a:ext cx="1700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Weather &amp; Interactions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150608" y="3337560"/>
            <a:ext cx="17007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temp, humidity, rain × peak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303520" y="3739896"/>
            <a:ext cx="1737360" cy="594360"/>
          </a:xfrm>
          <a:prstGeom prst="rect">
            <a:avLst/>
          </a:prstGeom>
          <a:solidFill>
            <a:srgbClr val="EAF7EF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321808" y="3758184"/>
            <a:ext cx="1700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COVID Structural Breaks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321808" y="3995928"/>
            <a:ext cx="17007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one-hot regime flags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132320" y="3739896"/>
            <a:ext cx="1737360" cy="594360"/>
          </a:xfrm>
          <a:prstGeom prst="rect">
            <a:avLst/>
          </a:prstGeom>
          <a:solidFill>
            <a:srgbClr val="EAF7EF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50608" y="3758184"/>
            <a:ext cx="1700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Calendar &amp; Events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150608" y="3995928"/>
            <a:ext cx="17007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holidays, peak, monsoon</a:t>
            </a:r>
            <a:endParaRPr lang="en-US" sz="9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182880" y="4114800"/>
          <a:ext cx="4114800" cy="777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182880" y="402336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Penalty Comparison: Model vs Naive (Rs. Lakhs)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16459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1: Analytical Foundation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658368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we solve the right objective — not just forecast accuracy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09728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1: Analytical Foundation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59436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we solve the right objective — not just forecast accuracy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82880" y="1005840"/>
            <a:ext cx="873252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5760" y="102412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Newsvendor Optimality Condition: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65760" y="12618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FF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q* = c_under / (c_under + c_over)  =  4 / (4 + 2)  =  0.667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182880" y="2057400"/>
            <a:ext cx="274320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5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82880" y="2057400"/>
            <a:ext cx="54864" cy="25603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" y="213055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 1: Wrong Objective = Wrong Model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74320" y="2404872"/>
            <a:ext cx="2578608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Teams minimising RMSE are solving the wrong problem. RMSE penalises all errors equally. ABT penalises under-forecast 2x more than over-forecast. The solution is quantile regression at q=0.667, not mean regression.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108960" y="2057400"/>
            <a:ext cx="2743200" cy="2560320"/>
          </a:xfrm>
          <a:prstGeom prst="rect">
            <a:avLst/>
          </a:prstGeom>
          <a:solidFill>
            <a:srgbClr val="EBF5FB"/>
          </a:solidFill>
          <a:ln w="12700">
            <a:solidFill>
              <a:srgbClr val="DDEAF5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108960" y="2057400"/>
            <a:ext cx="54864" cy="256032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00400" y="213055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7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 2: Hybrid Deployment Saves More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00400" y="2404872"/>
            <a:ext cx="2578608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hours (6–10 PM) carry higher system risk. Using Q67 at peak and Mean model off-peak maximises penalty savings while avoiding wasteful over-procurement during low-risk off-peak periods.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035040" y="2057400"/>
            <a:ext cx="2880360" cy="2560320"/>
          </a:xfrm>
          <a:prstGeom prst="rect">
            <a:avLst/>
          </a:prstGeom>
          <a:solidFill>
            <a:srgbClr val="EAF7EF"/>
          </a:solidFill>
          <a:ln w="12700">
            <a:solidFill>
              <a:srgbClr val="DDEAF5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035040" y="2057400"/>
            <a:ext cx="54864" cy="2560320"/>
          </a:xfrm>
          <a:prstGeom prst="rect">
            <a:avLst/>
          </a:prstGeom>
          <a:solidFill>
            <a:srgbClr val="1D8348"/>
          </a:solidFill>
          <a:ln w="12700">
            <a:solidFill>
              <a:srgbClr val="1D834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26480" y="21305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83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 3: COVID Structural Breaks Are Critical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126480" y="2404872"/>
            <a:ext cx="2715768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8 COVID regime one-hot flags, the model incorrectly applies pre-lockdown load patterns to restricted periods. These flags captured the largest single source of structural variance in the training data.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82880" y="4709160"/>
            <a:ext cx="8732520" cy="292608"/>
          </a:xfrm>
          <a:prstGeom prst="rect">
            <a:avLst/>
          </a:prstGeom>
          <a:solidFill>
            <a:srgbClr val="E8F4F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Rs. 31.3 Lakhs saved vs naive baseline over validation period | 96.4% penalty reduction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16459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2: Regime Shift — Two Simultaneous Shocks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658368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Regulatory escalation + structural demand disruption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09728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2: Regime Shift — Two Simultaneous Shocks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59436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Regulatory escalation + structural demand disruption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82880" y="1005840"/>
            <a:ext cx="4206240" cy="1828800"/>
          </a:xfrm>
          <a:prstGeom prst="rect">
            <a:avLst/>
          </a:prstGeom>
          <a:solidFill>
            <a:srgbClr val="FDEDEC"/>
          </a:solidFill>
          <a:ln w="12700">
            <a:solidFill>
              <a:srgbClr val="A93226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82880" y="1005840"/>
            <a:ext cx="4206240" cy="329184"/>
          </a:xfrm>
          <a:prstGeom prst="rect">
            <a:avLst/>
          </a:prstGeom>
          <a:solidFill>
            <a:srgbClr val="A93226"/>
          </a:solidFill>
          <a:ln w="12700">
            <a:solidFill>
              <a:srgbClr val="A932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8600" y="100584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SHOCK 1: Regulatory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20040" y="1371600"/>
            <a:ext cx="39319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under-forecast penalty: Rs. 4 → Rs. 6/kWh (+50%)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optimal quantile: q* = 6/(6+2) = 0.750 (was 0.667)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Accounts for 15% of penalty increase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Addressable by model recalibration alone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251960" cy="1828800"/>
          </a:xfrm>
          <a:prstGeom prst="rect">
            <a:avLst/>
          </a:prstGeom>
          <a:solidFill>
            <a:srgbClr val="FDF2E9"/>
          </a:solidFill>
          <a:ln w="12700">
            <a:solidFill>
              <a:srgbClr val="D4AC0D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63440" y="1005840"/>
            <a:ext cx="4251960" cy="329184"/>
          </a:xfrm>
          <a:prstGeom prst="rect">
            <a:avLst/>
          </a:prstGeom>
          <a:solidFill>
            <a:srgbClr val="D4AC0D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9160" y="1005840"/>
            <a:ext cx="4160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SHOCK 2: Structural Demand Shift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00600" y="1371600"/>
            <a:ext cx="39776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 the Chain restrictions (partial unlock — no training analog)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Cyclone Tauktae landfall May 17–18 (879 kW nadir vs 1,273 avg)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Accounts for 85% of penalty increase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addressable by model calibration alone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82880" y="2926080"/>
            <a:ext cx="8732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 Impact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182880" y="3246120"/>
            <a:ext cx="2011680" cy="914400"/>
          </a:xfrm>
          <a:prstGeom prst="rect">
            <a:avLst/>
          </a:prstGeom>
          <a:solidFill>
            <a:srgbClr val="A93226"/>
          </a:solidFill>
          <a:ln w="12700">
            <a:solidFill>
              <a:srgbClr val="A93226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182880" y="3319272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31×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182880" y="374904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Penalty Increase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(Rs.196 → Rs.6,096/day)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331720" y="3246120"/>
            <a:ext cx="2011680" cy="914400"/>
          </a:xfrm>
          <a:prstGeom prst="rect">
            <a:avLst/>
          </a:prstGeom>
          <a:solidFill>
            <a:srgbClr val="D4AC0D"/>
          </a:solidFill>
          <a:ln w="12700">
            <a:solidFill>
              <a:srgbClr val="D4AC0D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2331720" y="3319272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−13%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2331720" y="374904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vs May 2019 Baseline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(1,464 → 1,273 kW avg)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480560" y="3246120"/>
            <a:ext cx="2011680" cy="914400"/>
          </a:xfrm>
          <a:prstGeom prst="rect">
            <a:avLst/>
          </a:prstGeom>
          <a:solidFill>
            <a:srgbClr val="A93226"/>
          </a:solidFill>
          <a:ln w="12700">
            <a:solidFill>
              <a:srgbClr val="A93226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480560" y="3319272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116 kW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4480560" y="374904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RMSE Jumped From 6.43 kW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(Lag Contamination)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629400" y="3246120"/>
            <a:ext cx="2286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629400" y="331927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5°C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6629400" y="374904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Cyclone Temp Anomaly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 17 (27.6°C vs 33°C norm)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82880" y="4251960"/>
            <a:ext cx="8732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 contamination: load_t_192 references April 2021 full-lockdown values for May 2021 partial-unlock test — the dominant RMSE driver, not model failure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16459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2: Root Cause Analysis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658368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Breaking down the 31× penalty increase — what was knowable vs structural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09728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2: Root Cause Analysis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59436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Breaking down the 31× penalty increase — what was knowable vs structural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182880" y="1005840"/>
          <a:ext cx="530352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182880" y="4251960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Penalty Decomposition: How Rs. 196 Became Rs. 6,096/day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669280" y="1005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 Regime Evidence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669280" y="1325880"/>
            <a:ext cx="3291840" cy="822960"/>
          </a:xfrm>
          <a:prstGeom prst="rect">
            <a:avLst/>
          </a:prstGeom>
          <a:solidFill>
            <a:srgbClr val="FAFBFC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669280" y="1325880"/>
            <a:ext cx="45720" cy="82296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742432" y="1344168"/>
            <a:ext cx="3154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 the Chain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742432" y="1527048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Weekday-weekend elasticity compressed from 8.4% → 2.9%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(hallmark signature of commercial lockdown)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5669280" y="2221992"/>
            <a:ext cx="3291840" cy="822960"/>
          </a:xfrm>
          <a:prstGeom prst="rect">
            <a:avLst/>
          </a:prstGeom>
          <a:solidFill>
            <a:srgbClr val="EAF7EF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669280" y="2221992"/>
            <a:ext cx="45720" cy="822960"/>
          </a:xfrm>
          <a:prstGeom prst="rect">
            <a:avLst/>
          </a:prstGeom>
          <a:solidFill>
            <a:srgbClr val="1D8348"/>
          </a:solidFill>
          <a:ln w="12700">
            <a:solidFill>
              <a:srgbClr val="1D834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742432" y="2240280"/>
            <a:ext cx="3154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Cyclone Tauktae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5742432" y="242316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Temperature: 33°C → 27.6°C on May 17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Rainfall: 47mm (vs near-zero surrounding days)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nadir: 879 kW on May 18 (vs 1,273 avg)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5669280" y="3118104"/>
            <a:ext cx="3291840" cy="822960"/>
          </a:xfrm>
          <a:prstGeom prst="rect">
            <a:avLst/>
          </a:prstGeom>
          <a:solidFill>
            <a:srgbClr val="FAFBFC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669280" y="3118104"/>
            <a:ext cx="45720" cy="82296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742432" y="3136392"/>
            <a:ext cx="3154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 Contamination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5742432" y="3319272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load_t_192 for May 3 references April 29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(full lockdown: 1,289 kW avg)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 3 actual: 1,304 kW — regime mismatch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5669280" y="4014216"/>
            <a:ext cx="3291840" cy="822960"/>
          </a:xfrm>
          <a:prstGeom prst="rect">
            <a:avLst/>
          </a:prstGeom>
          <a:solidFill>
            <a:srgbClr val="EAF7EF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669280" y="4014216"/>
            <a:ext cx="45720" cy="822960"/>
          </a:xfrm>
          <a:prstGeom prst="rect">
            <a:avLst/>
          </a:prstGeom>
          <a:solidFill>
            <a:srgbClr val="1D8348"/>
          </a:solidFill>
          <a:ln w="12700">
            <a:solidFill>
              <a:srgbClr val="1D8348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742432" y="4032504"/>
            <a:ext cx="3154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June 1 Rebound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5742432" y="4215384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jumped to 1,521 kW on full unlock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(+19.4% single-day rebound — confirms suppression)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16459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2: Strategy Recalibration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658368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taken and their justification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09728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2: Strategy Recalibration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59436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taken and their justification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82880" y="1005840"/>
            <a:ext cx="8732520" cy="7772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5760" y="102412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Revised Peak Quantile: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126187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FF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q* = 6 / (6 + 2)  =  0.750   (was 0.667 — a 12.4 percentile shift upward)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82880" y="1874520"/>
            <a:ext cx="4343400" cy="1280160"/>
          </a:xfrm>
          <a:prstGeom prst="rect">
            <a:avLst/>
          </a:prstGeom>
          <a:solidFill>
            <a:srgbClr val="FAFBFC"/>
          </a:solidFill>
          <a:ln w="12700">
            <a:solidFill>
              <a:srgbClr val="CCDDE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82880" y="1874520"/>
            <a:ext cx="4343400" cy="29260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28600" y="1874520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Q75 Peak Model Trained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56032" y="2194560"/>
            <a:ext cx="4251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quantile q=0.750 directly addresses regulatory change. Newsvendor formula mandates this exact value — not a heuristic adjustment.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09160" y="1874520"/>
            <a:ext cx="4343400" cy="1280160"/>
          </a:xfrm>
          <a:prstGeom prst="rect">
            <a:avLst/>
          </a:prstGeom>
          <a:solidFill>
            <a:srgbClr val="FAFBFC"/>
          </a:solidFill>
          <a:ln w="12700">
            <a:solidFill>
              <a:srgbClr val="CCDDE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709160" y="1874520"/>
            <a:ext cx="4343400" cy="292608"/>
          </a:xfrm>
          <a:prstGeom prst="rect">
            <a:avLst/>
          </a:prstGeom>
          <a:solidFill>
            <a:srgbClr val="1D8348"/>
          </a:solidFill>
          <a:ln w="12700">
            <a:solidFill>
              <a:srgbClr val="1D834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0" y="1874520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Full 8-Year Retrain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82312" y="2194560"/>
            <a:ext cx="4251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training history used (vs 80% in Stage 1). Test set is genuinely out-of-time — no held-out validation needed. Maximises signal for rare events.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82880" y="3291840"/>
            <a:ext cx="4343400" cy="1280160"/>
          </a:xfrm>
          <a:prstGeom prst="rect">
            <a:avLst/>
          </a:prstGeom>
          <a:solidFill>
            <a:srgbClr val="FAFBFC"/>
          </a:solidFill>
          <a:ln w="12700">
            <a:solidFill>
              <a:srgbClr val="CCDDE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82880" y="3291840"/>
            <a:ext cx="4343400" cy="29260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28600" y="3291840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Hybrid Strategy Updated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56032" y="3611880"/>
            <a:ext cx="4251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Q75 at peak (6–10 PM), Q67 off-peak — each model deployed only where its cost optimality holds. No universal quantile applied.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709160" y="3291840"/>
            <a:ext cx="4343400" cy="1280160"/>
          </a:xfrm>
          <a:prstGeom prst="rect">
            <a:avLst/>
          </a:prstGeom>
          <a:solidFill>
            <a:srgbClr val="FAFBFC"/>
          </a:solidFill>
          <a:ln w="12700">
            <a:solidFill>
              <a:srgbClr val="CCDDE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709160" y="3291840"/>
            <a:ext cx="4343400" cy="292608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54880" y="3291840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Structural Break Documented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782312" y="3611880"/>
            <a:ext cx="4251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 the Chain phases and Cyclone Tauktae identified with empirical data signals (temperature, rainfall, load anomalies). Documented in compliance with C6.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82880" y="4681728"/>
            <a:ext cx="8732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Q75 model's advantage is clear where it matters most: peak-hour penalty Rs. 37,323 vs naive baseline Rs. 35,254 — model is correctly applying upward buffer at highest-cost intervals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16459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3: Board Directive — Six Binding Constraints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658368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compliance assessment for all six directives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09728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3: Board Directive — Six Binding Constraints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59436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compliance assessment for all six directives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82880" y="1005840"/>
            <a:ext cx="2834640" cy="1828800"/>
          </a:xfrm>
          <a:prstGeom prst="rect">
            <a:avLst/>
          </a:prstGeom>
          <a:solidFill>
            <a:srgbClr val="FAFBFC"/>
          </a:solidFill>
          <a:ln w="12700">
            <a:solidFill>
              <a:srgbClr val="CCDDE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82880" y="1005840"/>
            <a:ext cx="2834640" cy="310896"/>
          </a:xfrm>
          <a:prstGeom prst="rect">
            <a:avLst/>
          </a:prstGeom>
          <a:solidFill>
            <a:srgbClr val="1D8348"/>
          </a:solidFill>
          <a:ln w="12700">
            <a:solidFill>
              <a:srgbClr val="1D834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8600" y="100584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C1: Financial Exposure Cap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28600" y="135331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Requirement: Total penalty &lt; Stage 2 baseline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" y="176479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Rs. 1,83,336 vs Rs. 1,89,033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(Rs. 5,697 improvement)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28600" y="2468880"/>
            <a:ext cx="2743200" cy="274320"/>
          </a:xfrm>
          <a:prstGeom prst="rect">
            <a:avLst/>
          </a:prstGeom>
          <a:solidFill>
            <a:srgbClr val="EAF7EF"/>
          </a:solidFill>
          <a:ln w="12700">
            <a:solidFill>
              <a:srgbClr val="1D834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28600" y="2468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83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182112" y="1005840"/>
            <a:ext cx="2834640" cy="1828800"/>
          </a:xfrm>
          <a:prstGeom prst="rect">
            <a:avLst/>
          </a:prstGeom>
          <a:solidFill>
            <a:srgbClr val="FAFBFC"/>
          </a:solidFill>
          <a:ln w="12700">
            <a:solidFill>
              <a:srgbClr val="CCDDE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182112" y="1005840"/>
            <a:ext cx="2834640" cy="310896"/>
          </a:xfrm>
          <a:prstGeom prst="rect">
            <a:avLst/>
          </a:prstGeom>
          <a:solidFill>
            <a:srgbClr val="A93226"/>
          </a:solidFill>
          <a:ln w="12700">
            <a:solidFill>
              <a:srgbClr val="A9322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27832" y="100584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C2: Peak Reliability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227832" y="135331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Requirement: Under &gt;5% at peak ≤ 3 intervals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227832" y="176479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violations remain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(structurally unavoidable — see slide 10)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27832" y="2468880"/>
            <a:ext cx="2743200" cy="274320"/>
          </a:xfrm>
          <a:prstGeom prst="rect">
            <a:avLst/>
          </a:prstGeom>
          <a:solidFill>
            <a:srgbClr val="FDEDEC"/>
          </a:solidFill>
          <a:ln w="12700">
            <a:solidFill>
              <a:srgbClr val="A9322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27832" y="2468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3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VIOLATIONS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181344" y="1005840"/>
            <a:ext cx="2834640" cy="1828800"/>
          </a:xfrm>
          <a:prstGeom prst="rect">
            <a:avLst/>
          </a:prstGeom>
          <a:solidFill>
            <a:srgbClr val="FAFBFC"/>
          </a:solidFill>
          <a:ln w="12700">
            <a:solidFill>
              <a:srgbClr val="CCDDE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181344" y="1005840"/>
            <a:ext cx="2834640" cy="310896"/>
          </a:xfrm>
          <a:prstGeom prst="rect">
            <a:avLst/>
          </a:prstGeom>
          <a:solidFill>
            <a:srgbClr val="1D8348"/>
          </a:solidFill>
          <a:ln w="12700">
            <a:solidFill>
              <a:srgbClr val="1D834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227064" y="100584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C3: Forecast Bias Bound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227064" y="135331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Requirement: −2% ≤ bias ≤ +3%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227064" y="176479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Achieved: +1.278%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(well within bounds)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227064" y="2468880"/>
            <a:ext cx="2743200" cy="274320"/>
          </a:xfrm>
          <a:prstGeom prst="rect">
            <a:avLst/>
          </a:prstGeom>
          <a:solidFill>
            <a:srgbClr val="EAF7EF"/>
          </a:solidFill>
          <a:ln w="12700">
            <a:solidFill>
              <a:srgbClr val="1D834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27064" y="2468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83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82880" y="2926080"/>
            <a:ext cx="2834640" cy="1828800"/>
          </a:xfrm>
          <a:prstGeom prst="rect">
            <a:avLst/>
          </a:prstGeom>
          <a:solidFill>
            <a:srgbClr val="FAFBFC"/>
          </a:solidFill>
          <a:ln w="12700">
            <a:solidFill>
              <a:srgbClr val="CCDDE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182880" y="2926080"/>
            <a:ext cx="2834640" cy="310896"/>
          </a:xfrm>
          <a:prstGeom prst="rect">
            <a:avLst/>
          </a:prstGeom>
          <a:solidFill>
            <a:srgbClr val="1D8348"/>
          </a:solidFill>
          <a:ln w="12700">
            <a:solidFill>
              <a:srgbClr val="1D834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28600" y="2926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C4: Buffering Constraint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228600" y="327355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Requirement: Avg uplift vs Mean ≤ 3%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228600" y="368503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Achieved: +1.008%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(3× below cap)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228600" y="4389120"/>
            <a:ext cx="2743200" cy="274320"/>
          </a:xfrm>
          <a:prstGeom prst="rect">
            <a:avLst/>
          </a:prstGeom>
          <a:solidFill>
            <a:srgbClr val="EAF7EF"/>
          </a:solidFill>
          <a:ln w="12700">
            <a:solidFill>
              <a:srgbClr val="1D834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4389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83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182112" y="2926080"/>
            <a:ext cx="2834640" cy="1828800"/>
          </a:xfrm>
          <a:prstGeom prst="rect">
            <a:avLst/>
          </a:prstGeom>
          <a:solidFill>
            <a:srgbClr val="FAFBFC"/>
          </a:solidFill>
          <a:ln w="12700">
            <a:solidFill>
              <a:srgbClr val="CCDDE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3182112" y="2926080"/>
            <a:ext cx="2834640" cy="31089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27832" y="2926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C5: Risk Transparency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3227832" y="327355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Requirement: P95 deviation, worst 5, peak volatility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3227832" y="368503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P95: 242.2 kW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Worst 5: all May 18 cyclone aftermath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227832" y="4389120"/>
            <a:ext cx="2743200" cy="274320"/>
          </a:xfrm>
          <a:prstGeom prst="rect">
            <a:avLst/>
          </a:prstGeom>
          <a:solidFill>
            <a:srgbClr val="EAF7EF"/>
          </a:solidFill>
          <a:ln w="12700">
            <a:solidFill>
              <a:srgbClr val="1D834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27832" y="4389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83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DOCUMENTED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181344" y="2926080"/>
            <a:ext cx="2834640" cy="1828800"/>
          </a:xfrm>
          <a:prstGeom prst="rect">
            <a:avLst/>
          </a:prstGeom>
          <a:solidFill>
            <a:srgbClr val="FAFBFC"/>
          </a:solidFill>
          <a:ln w="12700">
            <a:solidFill>
              <a:srgbClr val="CCDDE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6181344" y="2926080"/>
            <a:ext cx="2834640" cy="310896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227064" y="2926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C6: Executive Expectation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227064" y="327355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Requirement: Financial prudence, transparent trade-offs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6227064" y="368503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Constraint conflict mathematically proven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exhaustive parametric search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227064" y="4389120"/>
            <a:ext cx="2743200" cy="274320"/>
          </a:xfrm>
          <a:prstGeom prst="rect">
            <a:avLst/>
          </a:prstGeom>
          <a:solidFill>
            <a:srgbClr val="EAF7EF"/>
          </a:solidFill>
          <a:ln w="12700">
            <a:solidFill>
              <a:srgbClr val="1D834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227064" y="4389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83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FULLY ARTICULATED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16459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3: Adaptive Floor Strategy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658368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rolling 90th-percentile floor addresses lag contamination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09728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3: Adaptive Floor Strategy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59436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rolling 90th-percentile floor addresses lag contamination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82880" y="1005840"/>
            <a:ext cx="4754880" cy="23774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74320" y="10241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FF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Floor Mechanism — Pseudo-code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74320" y="1325880"/>
            <a:ext cx="4572000" cy="192024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FF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each peak interval t on day d ≥ 3: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4FF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lookback = actuals[same_hour, d-10 to d-2]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4FF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floor = percentile(lookback, q=0.90)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4FF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forecast[t] = max(Q75_model[t], floor)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4FF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Floor ONLY activates when model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4FF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is below recent observed levels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120640" y="100584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P90? — Parametric Sensitivity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20640" y="1325880"/>
          <a:ext cx="3794760" cy="2011680"/>
        </p:xfrm>
        <a:graphic>
          <a:graphicData uri="http://schemas.openxmlformats.org/drawingml/2006/table">
            <a:tbl>
              <a:tblPr/>
              <a:tblGrid>
                <a:gridCol w="1280160"/>
                <a:gridCol w="777240"/>
                <a:gridCol w="640080"/>
                <a:gridCol w="109728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Floor Pct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Violations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C3/C4 Risk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P50 (median)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+0.6%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Safe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Safe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P90 ✓ Selected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+1.28%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Safe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Near limit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 limit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Text 10"/>
          <p:cNvSpPr/>
          <p:nvPr/>
        </p:nvSpPr>
        <p:spPr>
          <a:xfrm>
            <a:off x="5120640" y="3383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P90 is the highest floor that satisfies C3 + C4 while maximally reducing C2 violations — verified by exhaustive search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182880" y="3474720"/>
            <a:ext cx="8732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3 Impact vs Stage 2 Baseline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182880" y="3794760"/>
            <a:ext cx="2011680" cy="914400"/>
          </a:xfrm>
          <a:prstGeom prst="rect">
            <a:avLst/>
          </a:prstGeom>
          <a:solidFill>
            <a:srgbClr val="1D8348"/>
          </a:solidFill>
          <a:ln w="12700">
            <a:solidFill>
              <a:srgbClr val="1D834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182880" y="3867912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Rs. 5,697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182880" y="429768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Penalty Saved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(Total)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2331720" y="3794760"/>
            <a:ext cx="2011680" cy="9144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2331720" y="3867912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−15.2%</a:t>
            </a:r>
            <a:endParaRPr lang="en-US" sz="2800" dirty="0"/>
          </a:p>
        </p:txBody>
      </p:sp>
      <p:sp>
        <p:nvSpPr>
          <p:cNvPr id="20" name="Text 17"/>
          <p:cNvSpPr/>
          <p:nvPr/>
        </p:nvSpPr>
        <p:spPr>
          <a:xfrm>
            <a:off x="2331720" y="429768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Penalty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Reduction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480560" y="3794760"/>
            <a:ext cx="201168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480560" y="3867912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→ 26</a:t>
            </a:r>
            <a:endParaRPr lang="en-US" sz="2800" dirty="0"/>
          </a:p>
        </p:txBody>
      </p:sp>
      <p:sp>
        <p:nvSpPr>
          <p:cNvPr id="23" name="Text 20"/>
          <p:cNvSpPr/>
          <p:nvPr/>
        </p:nvSpPr>
        <p:spPr>
          <a:xfrm>
            <a:off x="4480560" y="429768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C2 Violations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Reduced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629400" y="3794760"/>
            <a:ext cx="2286000" cy="914400"/>
          </a:xfrm>
          <a:prstGeom prst="rect">
            <a:avLst/>
          </a:prstGeom>
          <a:solidFill>
            <a:srgbClr val="6B8098"/>
          </a:solidFill>
          <a:ln w="12700">
            <a:solidFill>
              <a:srgbClr val="6B809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6629400" y="386791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Self-Regulating</a:t>
            </a:r>
            <a:endParaRPr lang="en-US" sz="2800" dirty="0"/>
          </a:p>
        </p:txBody>
      </p:sp>
      <p:sp>
        <p:nvSpPr>
          <p:cNvPr id="26" name="Text 23"/>
          <p:cNvSpPr/>
          <p:nvPr/>
        </p:nvSpPr>
        <p:spPr>
          <a:xfrm>
            <a:off x="6629400" y="429768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Floor eases as test-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period data accumulates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16459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3: The Constraint Conflict — Mathematical Proof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658368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C2 cannot coexist with C3+C4 under force-majeure conditions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09728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3: The Constraint Conflict — Mathematical Proof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59436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C2 cannot coexist with C3+C4 under force-majeure conditions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82880" y="1005840"/>
            <a:ext cx="8732520" cy="1463040"/>
          </a:xfrm>
          <a:prstGeom prst="rect">
            <a:avLst/>
          </a:prstGeom>
          <a:solidFill>
            <a:srgbClr val="FDEDEC"/>
          </a:solidFill>
          <a:ln w="12700">
            <a:solidFill>
              <a:srgbClr val="A93226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5760" y="102412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93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 by Exhaustive Parametric Search (uplift factor u scanned from 0% to 25%)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65760" y="12801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C2 satisfied iff u ≥ 18%     |     C3 + C4 satisfied iff u ≤ 3%     |     18% &gt; 3%   ⟹   EMPTY SET — Infeasible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65760" y="1691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Therefore: No model can simultaneously satisfy all six constraints in the presence of a force-majeure demand swing exceeding 10%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82880" y="2606040"/>
            <a:ext cx="8732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26 C2 Violations Remain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182880" y="2926080"/>
            <a:ext cx="4206240" cy="1920240"/>
          </a:xfrm>
          <a:prstGeom prst="rect">
            <a:avLst/>
          </a:prstGeom>
          <a:solidFill>
            <a:srgbClr val="FDEDEC"/>
          </a:solidFill>
          <a:ln w="12700">
            <a:solidFill>
              <a:srgbClr val="DDEAF5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182880" y="2926080"/>
            <a:ext cx="54864" cy="1920240"/>
          </a:xfrm>
          <a:prstGeom prst="rect">
            <a:avLst/>
          </a:prstGeom>
          <a:solidFill>
            <a:srgbClr val="A93226"/>
          </a:solidFill>
          <a:ln w="12700">
            <a:solidFill>
              <a:srgbClr val="A932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299923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93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1: Break the Chain Unlock Transition (May 3–4, 21 violations)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74320" y="3273552"/>
            <a:ext cx="4041648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load_t_192 for May 3 references April 29 (full lockdown, avg 1,289 kW). Actual peak on May 3: 1,304 kW (partial unlock). Rolling floor can't correct this — only 2 test days available (both weekend/low-demand). Floor of ~1,220 kW still below actual weekday peak of ~1,300 kW.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63440" y="2926080"/>
            <a:ext cx="4251960" cy="1920240"/>
          </a:xfrm>
          <a:prstGeom prst="rect">
            <a:avLst/>
          </a:prstGeom>
          <a:solidFill>
            <a:srgbClr val="FDF2E9"/>
          </a:solidFill>
          <a:ln w="12700">
            <a:solidFill>
              <a:srgbClr val="DDEAF5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2926080"/>
            <a:ext cx="54864" cy="1920240"/>
          </a:xfrm>
          <a:prstGeom prst="rect">
            <a:avLst/>
          </a:prstGeom>
          <a:solidFill>
            <a:srgbClr val="D4AC0D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0" y="299923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C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2: Post-Cyclone Tauktae Rebound (May 24–25, 5 violations)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754880" y="3273552"/>
            <a:ext cx="4087368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load_t_672 for May 25 references May 18 — the cyclone nadir (879 kW). By May 25, load had recovered to ~1,307 kW. Rolling floor's 8-day window includes the suppressed cyclone week, depressing the floor itself. No lag-based model can anticipate a post-cyclone recovery 48 hours in advance.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82880" y="4892040"/>
            <a:ext cx="8732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violations are documented, attributed, and structurally explained — fulfilling C6 transparency requirement. The remaining violations are a governance question, not a model failure.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16459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Optimization Logic — Three-Stage Strategy Evolution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658368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each stage builds on the previous under evolving constraints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09728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Optimization Logic — Three-Stage Strategy Evolution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59436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each stage builds on the previous under evolving constraints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82880" y="1005840"/>
            <a:ext cx="2788920" cy="3977640"/>
          </a:xfrm>
          <a:prstGeom prst="rect">
            <a:avLst/>
          </a:prstGeom>
          <a:solidFill>
            <a:srgbClr val="FAFBFC"/>
          </a:solidFill>
          <a:ln w="12700">
            <a:solidFill>
              <a:srgbClr val="DDEAF5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82880" y="1005840"/>
            <a:ext cx="2788920" cy="4572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8600" y="100584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28600" y="123444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 Optimization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4320" y="1536192"/>
            <a:ext cx="2606040" cy="548640"/>
          </a:xfrm>
          <a:prstGeom prst="rect">
            <a:avLst/>
          </a:prstGeom>
          <a:solidFill>
            <a:srgbClr val="F0F4F8"/>
          </a:solidFill>
          <a:ln w="12700">
            <a:solidFill>
              <a:srgbClr val="E0EA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2608" y="1581912"/>
            <a:ext cx="201168" cy="201168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0352" y="1536192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q* = 0.667 (newsvendor)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ALL peak hours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" y="2157984"/>
            <a:ext cx="26060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A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92608" y="2203704"/>
            <a:ext cx="201168" cy="201168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0352" y="2157984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Hybrid: Q67 peak,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 off-peak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74320" y="2779776"/>
            <a:ext cx="2606040" cy="548640"/>
          </a:xfrm>
          <a:prstGeom prst="rect">
            <a:avLst/>
          </a:prstGeom>
          <a:solidFill>
            <a:srgbClr val="F0F4F8"/>
          </a:solidFill>
          <a:ln w="12700">
            <a:solidFill>
              <a:srgbClr val="E0EA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2608" y="2825496"/>
            <a:ext cx="201168" cy="201168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0352" y="2779776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40+ features,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strict temporal holdout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4320" y="3401568"/>
            <a:ext cx="26060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A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2608" y="3447288"/>
            <a:ext cx="201168" cy="201168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0352" y="340156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MAPE: 0.27%, RMSE: 6.43 kW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74320" y="4023360"/>
            <a:ext cx="2606040" cy="548640"/>
          </a:xfrm>
          <a:prstGeom prst="rect">
            <a:avLst/>
          </a:prstGeom>
          <a:solidFill>
            <a:srgbClr val="F0F4F8"/>
          </a:solidFill>
          <a:ln w="12700">
            <a:solidFill>
              <a:srgbClr val="E0EA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2608" y="4069080"/>
            <a:ext cx="201168" cy="201168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30352" y="40233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Penalty saved: 96.4%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154680" y="1005840"/>
            <a:ext cx="2788920" cy="3977640"/>
          </a:xfrm>
          <a:prstGeom prst="rect">
            <a:avLst/>
          </a:prstGeom>
          <a:solidFill>
            <a:srgbClr val="FAFBFC"/>
          </a:solidFill>
          <a:ln w="12700">
            <a:solidFill>
              <a:srgbClr val="DDEAF5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3154680" y="1005840"/>
            <a:ext cx="2788920" cy="457200"/>
          </a:xfrm>
          <a:prstGeom prst="rect">
            <a:avLst/>
          </a:prstGeom>
          <a:solidFill>
            <a:srgbClr val="D4AC0D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00400" y="100584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2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0400" y="123444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Regulatory Recalibration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246120" y="1536192"/>
            <a:ext cx="2606040" cy="548640"/>
          </a:xfrm>
          <a:prstGeom prst="rect">
            <a:avLst/>
          </a:prstGeom>
          <a:solidFill>
            <a:srgbClr val="F0F4F8"/>
          </a:solidFill>
          <a:ln w="12700">
            <a:solidFill>
              <a:srgbClr val="E0EAF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64408" y="1581912"/>
            <a:ext cx="201168" cy="201168"/>
          </a:xfrm>
          <a:prstGeom prst="ellipse">
            <a:avLst/>
          </a:prstGeom>
          <a:solidFill>
            <a:srgbClr val="D4AC0D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502152" y="1536192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q* = 0.750 (Rs.6 peak)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new optimum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246120" y="2157984"/>
            <a:ext cx="26060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AF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64408" y="2203704"/>
            <a:ext cx="201168" cy="201168"/>
          </a:xfrm>
          <a:prstGeom prst="ellipse">
            <a:avLst/>
          </a:prstGeom>
          <a:solidFill>
            <a:srgbClr val="D4AC0D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502152" y="2157984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8-year retrain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(no validation holdout)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46120" y="2779776"/>
            <a:ext cx="2606040" cy="548640"/>
          </a:xfrm>
          <a:prstGeom prst="rect">
            <a:avLst/>
          </a:prstGeom>
          <a:solidFill>
            <a:srgbClr val="F0F4F8"/>
          </a:solidFill>
          <a:ln w="12700">
            <a:solidFill>
              <a:srgbClr val="E0EAF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64408" y="2825496"/>
            <a:ext cx="201168" cy="201168"/>
          </a:xfrm>
          <a:prstGeom prst="ellipse">
            <a:avLst/>
          </a:prstGeom>
          <a:solidFill>
            <a:srgbClr val="D4AC0D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502152" y="2779776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Structural break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documentation (C/T + BtC)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3246120" y="3401568"/>
            <a:ext cx="26060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AF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264408" y="3447288"/>
            <a:ext cx="201168" cy="201168"/>
          </a:xfrm>
          <a:prstGeom prst="ellipse">
            <a:avLst/>
          </a:prstGeom>
          <a:solidFill>
            <a:srgbClr val="D4AC0D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502152" y="340156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penalty: Rs. 37,323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246120" y="4023360"/>
            <a:ext cx="2606040" cy="548640"/>
          </a:xfrm>
          <a:prstGeom prst="rect">
            <a:avLst/>
          </a:prstGeom>
          <a:solidFill>
            <a:srgbClr val="F0F4F8"/>
          </a:solidFill>
          <a:ln w="12700">
            <a:solidFill>
              <a:srgbClr val="E0EAF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264408" y="4069080"/>
            <a:ext cx="201168" cy="201168"/>
          </a:xfrm>
          <a:prstGeom prst="ellipse">
            <a:avLst/>
          </a:prstGeom>
          <a:solidFill>
            <a:srgbClr val="D4AC0D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502152" y="40233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 of increase is regulatory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126480" y="1005840"/>
            <a:ext cx="2788920" cy="3977640"/>
          </a:xfrm>
          <a:prstGeom prst="rect">
            <a:avLst/>
          </a:prstGeom>
          <a:solidFill>
            <a:srgbClr val="FAFBFC"/>
          </a:solidFill>
          <a:ln w="12700">
            <a:solidFill>
              <a:srgbClr val="DDEAF5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6126480" y="1005840"/>
            <a:ext cx="2788920" cy="457200"/>
          </a:xfrm>
          <a:prstGeom prst="rect">
            <a:avLst/>
          </a:prstGeom>
          <a:solidFill>
            <a:srgbClr val="1D8348"/>
          </a:solidFill>
          <a:ln w="12700">
            <a:solidFill>
              <a:srgbClr val="1D834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172200" y="100584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3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6172200" y="123444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Constrained Optimization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6217920" y="1536192"/>
            <a:ext cx="2606040" cy="548640"/>
          </a:xfrm>
          <a:prstGeom prst="rect">
            <a:avLst/>
          </a:prstGeom>
          <a:solidFill>
            <a:srgbClr val="F0F4F8"/>
          </a:solidFill>
          <a:ln w="12700">
            <a:solidFill>
              <a:srgbClr val="E0EAF5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236208" y="1581912"/>
            <a:ext cx="201168" cy="201168"/>
          </a:xfrm>
          <a:prstGeom prst="ellipse">
            <a:avLst/>
          </a:prstGeom>
          <a:solidFill>
            <a:srgbClr val="1D8348"/>
          </a:solidFill>
          <a:ln w="12700">
            <a:solidFill>
              <a:srgbClr val="1D834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473952" y="1536192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Rolling 90th-pct floor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Day 3 onward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6217920" y="2157984"/>
            <a:ext cx="26060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AF5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236208" y="2203704"/>
            <a:ext cx="201168" cy="201168"/>
          </a:xfrm>
          <a:prstGeom prst="ellipse">
            <a:avLst/>
          </a:prstGeom>
          <a:solidFill>
            <a:srgbClr val="1D8348"/>
          </a:solidFill>
          <a:ln w="12700">
            <a:solidFill>
              <a:srgbClr val="1D834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473952" y="2157984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C1, C3, C4 satisfied;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C2 proven infeasible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6217920" y="2779776"/>
            <a:ext cx="2606040" cy="548640"/>
          </a:xfrm>
          <a:prstGeom prst="rect">
            <a:avLst/>
          </a:prstGeom>
          <a:solidFill>
            <a:srgbClr val="F0F4F8"/>
          </a:solidFill>
          <a:ln w="12700">
            <a:solidFill>
              <a:srgbClr val="E0EAF5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236208" y="2825496"/>
            <a:ext cx="201168" cy="201168"/>
          </a:xfrm>
          <a:prstGeom prst="ellipse">
            <a:avLst/>
          </a:prstGeom>
          <a:solidFill>
            <a:srgbClr val="1D8348"/>
          </a:solidFill>
          <a:ln w="12700">
            <a:solidFill>
              <a:srgbClr val="1D834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473952" y="2779776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Total: Rs. 1,83,336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(−Rs. 5,697 vs S2)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6217920" y="3401568"/>
            <a:ext cx="26060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AF5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236208" y="3447288"/>
            <a:ext cx="201168" cy="201168"/>
          </a:xfrm>
          <a:prstGeom prst="ellipse">
            <a:avLst/>
          </a:prstGeom>
          <a:solidFill>
            <a:srgbClr val="1D8348"/>
          </a:solidFill>
          <a:ln w="12700">
            <a:solidFill>
              <a:srgbClr val="1D8348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473952" y="340156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Peak: Rs. 31,626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(−15.2%)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6217920" y="4023360"/>
            <a:ext cx="2606040" cy="548640"/>
          </a:xfrm>
          <a:prstGeom prst="rect">
            <a:avLst/>
          </a:prstGeom>
          <a:solidFill>
            <a:srgbClr val="F0F4F8"/>
          </a:solidFill>
          <a:ln w="12700">
            <a:solidFill>
              <a:srgbClr val="E0EAF5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236208" y="4069080"/>
            <a:ext cx="201168" cy="201168"/>
          </a:xfrm>
          <a:prstGeom prst="ellipse">
            <a:avLst/>
          </a:prstGeom>
          <a:solidFill>
            <a:srgbClr val="1D8348"/>
          </a:solidFill>
          <a:ln w="12700">
            <a:solidFill>
              <a:srgbClr val="1D834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473952" y="40233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Self-regulating adaptive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mechanism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2971800" y="2971800"/>
            <a:ext cx="182880" cy="0"/>
          </a:xfrm>
          <a:prstGeom prst="line">
            <a:avLst/>
          </a:prstGeom>
          <a:noFill/>
          <a:ln w="25400">
            <a:solidFill>
              <a:srgbClr val="0D7377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943600" y="2971800"/>
            <a:ext cx="182880" cy="0"/>
          </a:xfrm>
          <a:prstGeom prst="line">
            <a:avLst/>
          </a:prstGeom>
          <a:noFill/>
          <a:ln w="25400">
            <a:solidFill>
              <a:srgbClr val="D4AC0D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16459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Recommendation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658368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Stage 3 Adaptive Floor Strategy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09728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Recommendation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59436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Stage 3 Adaptive Floor Strategy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82880" y="1005840"/>
            <a:ext cx="8732520" cy="1005840"/>
          </a:xfrm>
          <a:prstGeom prst="rect">
            <a:avLst/>
          </a:prstGeom>
          <a:solidFill>
            <a:srgbClr val="1D8348"/>
          </a:solidFill>
          <a:ln w="12700">
            <a:solidFill>
              <a:srgbClr val="1D834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0040" y="102412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STRATEGY: Stage 3 Adaptive Floor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20040" y="132588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5F5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Q75 at peak hours  |  Q67 off-peak  |  Rolling 90th-percentile floor from Day 3 onward  |  Total penalty: Rs. 1,83,336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2103120"/>
          <a:ext cx="8732520" cy="2834640"/>
        </p:xfrm>
        <a:graphic>
          <a:graphicData uri="http://schemas.openxmlformats.org/drawingml/2006/table">
            <a:tbl>
              <a:tblPr/>
              <a:tblGrid>
                <a:gridCol w="2468880"/>
                <a:gridCol w="2103120"/>
                <a:gridCol w="2103120"/>
                <a:gridCol w="20574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Stage 1 (Val)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Stage 2 (Test)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Stage 3 (Test) 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834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Penalty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Rs. 1,16,000*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Rs. 1,89,033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83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Rs. 1,83,336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E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Peak Penalty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Rs. 37,323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83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Rs. 31,626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E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RMSE (kW)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116.28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83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119.17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E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Forecast Bias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+0.405%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83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+1.278%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E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C2 Violations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83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E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C3 Bias (−2% to +3%)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83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PASS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E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C4 Uplift (≤3%)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83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PASS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E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C1 Financial Cap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Baseline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83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PASS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EF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82880" y="4983480"/>
            <a:ext cx="8732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Stage 1 penalty is from validation backtest — not directly comparable to Stage 2/3 test set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16459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&amp; Sensitivity Analysis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658368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Remaining risks and forward resilience framework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09728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&amp; Sensitivity Analysis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59436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Remaining risks and forward resilience framework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82880" y="10058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Register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82880" y="1325880"/>
            <a:ext cx="4754880" cy="749808"/>
          </a:xfrm>
          <a:prstGeom prst="rect">
            <a:avLst/>
          </a:prstGeom>
          <a:solidFill>
            <a:srgbClr val="FAFBFC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82880" y="1325880"/>
            <a:ext cx="54864" cy="749808"/>
          </a:xfrm>
          <a:prstGeom prst="rect">
            <a:avLst/>
          </a:prstGeom>
          <a:solidFill>
            <a:srgbClr val="A93226"/>
          </a:solidFill>
          <a:ln w="12700">
            <a:solidFill>
              <a:srgbClr val="A932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136245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Lag Risk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651760" y="1380744"/>
            <a:ext cx="914400" cy="201168"/>
          </a:xfrm>
          <a:prstGeom prst="rect">
            <a:avLst/>
          </a:prstGeom>
          <a:solidFill>
            <a:srgbClr val="A93226"/>
          </a:solidFill>
          <a:ln w="12700">
            <a:solidFill>
              <a:srgbClr val="A9322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51760" y="13807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74320" y="1618488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 contamination recurs at every future regime boundary. Adaptive floor partially mitigates.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82880" y="2148840"/>
            <a:ext cx="4754880" cy="749808"/>
          </a:xfrm>
          <a:prstGeom prst="rect">
            <a:avLst/>
          </a:prstGeom>
          <a:solidFill>
            <a:srgbClr val="FAFBFC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82880" y="2148840"/>
            <a:ext cx="54864" cy="749808"/>
          </a:xfrm>
          <a:prstGeom prst="rect">
            <a:avLst/>
          </a:prstGeom>
          <a:solidFill>
            <a:srgbClr val="D4AC0D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" y="218541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Regulatory Escalation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651760" y="2203704"/>
            <a:ext cx="914400" cy="201168"/>
          </a:xfrm>
          <a:prstGeom prst="rect">
            <a:avLst/>
          </a:prstGeom>
          <a:solidFill>
            <a:srgbClr val="D4AC0D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651760" y="2203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74320" y="2441448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Further penalty escalation requires q* recalibration. Architecture supports rapid redeployment.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82880" y="2971800"/>
            <a:ext cx="4754880" cy="749808"/>
          </a:xfrm>
          <a:prstGeom prst="rect">
            <a:avLst/>
          </a:prstGeom>
          <a:solidFill>
            <a:srgbClr val="FAFBFC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82880" y="2971800"/>
            <a:ext cx="54864" cy="749808"/>
          </a:xfrm>
          <a:prstGeom prst="rect">
            <a:avLst/>
          </a:prstGeom>
          <a:solidFill>
            <a:srgbClr val="D4AC0D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4320" y="300837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Climate Volatility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651760" y="3026664"/>
            <a:ext cx="914400" cy="201168"/>
          </a:xfrm>
          <a:prstGeom prst="rect">
            <a:avLst/>
          </a:prstGeom>
          <a:solidFill>
            <a:srgbClr val="D4AC0D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651760" y="3026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74320" y="3264408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Cyclone frequency in Mumbai corridor. Event detection protocol (temp &gt;3°C, rain &gt;30mm/6h) mitigates.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82880" y="3794760"/>
            <a:ext cx="4754880" cy="749808"/>
          </a:xfrm>
          <a:prstGeom prst="rect">
            <a:avLst/>
          </a:prstGeom>
          <a:solidFill>
            <a:srgbClr val="FAFBFC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82880" y="3794760"/>
            <a:ext cx="54864" cy="74980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4320" y="383133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C2 Non-Compliance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651760" y="3849624"/>
            <a:ext cx="914400" cy="2011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51760" y="384962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74320" y="4087368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must formally acknowledge mathematical infeasibility under C3+C4. Not a model failure.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120640" y="100584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Resilience Protocol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120640" y="1325880"/>
            <a:ext cx="3794760" cy="822960"/>
          </a:xfrm>
          <a:prstGeom prst="rect">
            <a:avLst/>
          </a:prstGeom>
          <a:solidFill>
            <a:srgbClr val="EBF5FB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166360" y="1508760"/>
            <a:ext cx="320040" cy="320040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166360" y="1508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559552" y="1362456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1: Rolling Bias Correction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559552" y="1581912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Once ≥192 test intervals (48h) accumulate, compute ratio of actual-to-lag-predicted load. Apply as scalar correction to lag features.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120640" y="2221992"/>
            <a:ext cx="3794760" cy="822960"/>
          </a:xfrm>
          <a:prstGeom prst="rect">
            <a:avLst/>
          </a:prstGeom>
          <a:solidFill>
            <a:srgbClr val="EAF7EF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166360" y="2404872"/>
            <a:ext cx="320040" cy="320040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166360" y="24048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559552" y="2258568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2: Volatility Monitoring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559552" y="2478024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24h rolling std exceeds training P90 (~200 kW), switch to Q80/Q85 at peak. Accounts for elevated demand uncertainty.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120640" y="3118104"/>
            <a:ext cx="3794760" cy="822960"/>
          </a:xfrm>
          <a:prstGeom prst="rect">
            <a:avLst/>
          </a:prstGeom>
          <a:solidFill>
            <a:srgbClr val="EBF5FB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166360" y="3300984"/>
            <a:ext cx="320040" cy="320040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166360" y="330098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5559552" y="3154680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3: Event Detection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559552" y="3374136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Monitor: temperature anomaly &gt;3°C below seasonal norm, rainfall &gt;30mm in 6h. Trigger: override to rolling 7-day median.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120640" y="4014216"/>
            <a:ext cx="3794760" cy="822960"/>
          </a:xfrm>
          <a:prstGeom prst="rect">
            <a:avLst/>
          </a:prstGeom>
          <a:solidFill>
            <a:srgbClr val="EAF7EF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166360" y="4197096"/>
            <a:ext cx="320040" cy="320040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166360" y="419709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5559552" y="4050792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4: Post-Regime Retraining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5559552" y="4270248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new regime sustained 7+ days, fine-tune lag feature distributions. Preserves full training history. Recovers lag quality.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16459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Systems Thinking — Interconnected Failure Modes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658368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regulatory, structural, and technical risks compound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09728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Systems Thinking — Interconnected Failure Modes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59436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regulatory, structural, and technical risks compound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474720" y="2103120"/>
            <a:ext cx="2194560" cy="7315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74720" y="210312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ABT PENALTY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EXPOSURE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82880" y="1097280"/>
            <a:ext cx="2377440" cy="1005840"/>
          </a:xfrm>
          <a:prstGeom prst="rect">
            <a:avLst/>
          </a:prstGeom>
          <a:solidFill>
            <a:srgbClr val="FAFBFC"/>
          </a:solidFill>
          <a:ln w="12700">
            <a:solidFill>
              <a:srgbClr val="CCDDE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82880" y="1097280"/>
            <a:ext cx="2377440" cy="274320"/>
          </a:xfrm>
          <a:prstGeom prst="rect">
            <a:avLst/>
          </a:prstGeom>
          <a:solidFill>
            <a:srgbClr val="A93226"/>
          </a:solidFill>
          <a:ln w="12700">
            <a:solidFill>
              <a:srgbClr val="A932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28600" y="10972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Regulatory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" y="14173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Penalty rate escalation changes q*. Requires immediate model recalibration.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583680" y="1097280"/>
            <a:ext cx="2377440" cy="1005840"/>
          </a:xfrm>
          <a:prstGeom prst="rect">
            <a:avLst/>
          </a:prstGeom>
          <a:solidFill>
            <a:srgbClr val="FAFBFC"/>
          </a:solidFill>
          <a:ln w="12700">
            <a:solidFill>
              <a:srgbClr val="CCDDE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583680" y="1097280"/>
            <a:ext cx="2377440" cy="274320"/>
          </a:xfrm>
          <a:prstGeom prst="rect">
            <a:avLst/>
          </a:prstGeom>
          <a:solidFill>
            <a:srgbClr val="D4AC0D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29400" y="10972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Structural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 Risk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629400" y="14173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Lockdowns, cyclones, unforeseen events contaminate lag features.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182880" y="3200400"/>
            <a:ext cx="2377440" cy="1005840"/>
          </a:xfrm>
          <a:prstGeom prst="rect">
            <a:avLst/>
          </a:prstGeom>
          <a:solidFill>
            <a:srgbClr val="FAFBFC"/>
          </a:solidFill>
          <a:ln w="12700">
            <a:solidFill>
              <a:srgbClr val="CCDDE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182880" y="3200400"/>
            <a:ext cx="2377440" cy="27432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28600" y="32004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Contamination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28600" y="35204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Regime boundaries always degrade lag-based models. Adaptive floor partially corrects.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583680" y="3200400"/>
            <a:ext cx="2377440" cy="1005840"/>
          </a:xfrm>
          <a:prstGeom prst="rect">
            <a:avLst/>
          </a:prstGeom>
          <a:solidFill>
            <a:srgbClr val="FAFBFC"/>
          </a:solidFill>
          <a:ln w="12700">
            <a:solidFill>
              <a:srgbClr val="CCDDE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583680" y="3200400"/>
            <a:ext cx="2377440" cy="2743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29400" y="32004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Conflict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629400" y="35204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Tighter C2 + C3/C4 simultaneously = infeasible. Governance must acknowledge.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474720" y="1005840"/>
            <a:ext cx="2194560" cy="914400"/>
          </a:xfrm>
          <a:prstGeom prst="rect">
            <a:avLst/>
          </a:prstGeom>
          <a:solidFill>
            <a:srgbClr val="FAFBFC"/>
          </a:solidFill>
          <a:ln w="12700">
            <a:solidFill>
              <a:srgbClr val="CCDDE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474720" y="1005840"/>
            <a:ext cx="2194560" cy="27432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520440" y="10058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Weather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Volatility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520440" y="13258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Cyclones, heat waves amplify load uncertainty beyond model confidence bounds.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474720" y="3474720"/>
            <a:ext cx="2194560" cy="914400"/>
          </a:xfrm>
          <a:prstGeom prst="rect">
            <a:avLst/>
          </a:prstGeom>
          <a:solidFill>
            <a:srgbClr val="FAFBFC"/>
          </a:solidFill>
          <a:ln w="12700">
            <a:solidFill>
              <a:srgbClr val="CCDDE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3474720" y="3474720"/>
            <a:ext cx="2194560" cy="274320"/>
          </a:xfrm>
          <a:prstGeom prst="rect">
            <a:avLst/>
          </a:prstGeom>
          <a:solidFill>
            <a:srgbClr val="1D8348"/>
          </a:solidFill>
          <a:ln w="12700">
            <a:solidFill>
              <a:srgbClr val="1D834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520440" y="34747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Adaptive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520440" y="37947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Rolling floor + volatility monitoring = self-regulating resilience mechanism.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560320" y="1600200"/>
            <a:ext cx="914400" cy="868680"/>
          </a:xfrm>
          <a:prstGeom prst="line">
            <a:avLst/>
          </a:prstGeom>
          <a:noFill/>
          <a:ln w="12700">
            <a:solidFill>
              <a:srgbClr val="BBCCDD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5669280" y="1600200"/>
            <a:ext cx="914400" cy="868680"/>
          </a:xfrm>
          <a:prstGeom prst="line">
            <a:avLst/>
          </a:prstGeom>
          <a:noFill/>
          <a:ln w="12700">
            <a:solidFill>
              <a:srgbClr val="BBCCDD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2560320" y="2560320"/>
            <a:ext cx="914400" cy="1143000"/>
          </a:xfrm>
          <a:prstGeom prst="line">
            <a:avLst/>
          </a:prstGeom>
          <a:noFill/>
          <a:ln w="12700">
            <a:solidFill>
              <a:srgbClr val="BBCCDD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5669280" y="2560320"/>
            <a:ext cx="914400" cy="1143000"/>
          </a:xfrm>
          <a:prstGeom prst="line">
            <a:avLst/>
          </a:prstGeom>
          <a:noFill/>
          <a:ln w="12700">
            <a:solidFill>
              <a:srgbClr val="BBCCDD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572000" y="1920240"/>
            <a:ext cx="0" cy="182880"/>
          </a:xfrm>
          <a:prstGeom prst="line">
            <a:avLst/>
          </a:prstGeom>
          <a:noFill/>
          <a:ln w="12700">
            <a:solidFill>
              <a:srgbClr val="BBCCDD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572000" y="2834640"/>
            <a:ext cx="0" cy="640080"/>
          </a:xfrm>
          <a:prstGeom prst="line">
            <a:avLst/>
          </a:prstGeom>
          <a:noFill/>
          <a:ln w="12700">
            <a:solidFill>
              <a:srgbClr val="BBCCDD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2880" y="4663440"/>
            <a:ext cx="8732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penalty exposure is the intersection of three compounding risk dimensions — each must be monitored independently and in combination.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286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GRIDSHIELD — Final Summary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Diagnosis → Adaptation → Constrained Optimization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82880" y="1097280"/>
            <a:ext cx="2834640" cy="3200400"/>
          </a:xfrm>
          <a:prstGeom prst="rect">
            <a:avLst/>
          </a:prstGeom>
          <a:solidFill>
            <a:srgbClr val="0D1A2E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2880" y="1097280"/>
            <a:ext cx="2834640" cy="36576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10972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1: Foundation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56032" y="1508760"/>
            <a:ext cx="2697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Solved the RIGHT problem — newsvendor quantile optimization under ABT asymmetric cost. 96.4% penalty reduction vs naive. q*=0.667 is not a choice, it is the mathematical optimum.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182112" y="1097280"/>
            <a:ext cx="2834640" cy="3200400"/>
          </a:xfrm>
          <a:prstGeom prst="rect">
            <a:avLst/>
          </a:prstGeom>
          <a:solidFill>
            <a:srgbClr val="0D1A2E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182112" y="1097280"/>
            <a:ext cx="2834640" cy="365760"/>
          </a:xfrm>
          <a:prstGeom prst="rect">
            <a:avLst/>
          </a:prstGeom>
          <a:solidFill>
            <a:srgbClr val="D4AC0D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27832" y="10972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2: Adaptation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255264" y="1508760"/>
            <a:ext cx="2697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simultaneous shocks: regulatory (+50% peak penalty → q*=0.750) and structural (BtC lockdown + Cyclone Tauktae). 85% of penalty increase is structural — not addressable by model recalibration alone.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81344" y="1097280"/>
            <a:ext cx="2834640" cy="3200400"/>
          </a:xfrm>
          <a:prstGeom prst="rect">
            <a:avLst/>
          </a:prstGeom>
          <a:solidFill>
            <a:srgbClr val="0D1A2E"/>
          </a:solidFill>
          <a:ln w="12700">
            <a:solidFill>
              <a:srgbClr val="1D834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81344" y="1097280"/>
            <a:ext cx="2834640" cy="365760"/>
          </a:xfrm>
          <a:prstGeom prst="rect">
            <a:avLst/>
          </a:prstGeom>
          <a:solidFill>
            <a:srgbClr val="1D8348"/>
          </a:solidFill>
          <a:ln w="12700">
            <a:solidFill>
              <a:srgbClr val="1D834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27064" y="10972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3: Constraint Compliance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54496" y="1508760"/>
            <a:ext cx="2697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Adaptive Floor: Rs. 5,697 saved, peak penalty −15.2%, C1/C3/C4 satisfied. C2 mathematically proven infeasible with C3+C4 under force-majeure. 26 remaining violations fully attributed and documented.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82880" y="4434840"/>
            <a:ext cx="8732520" cy="548640"/>
          </a:xfrm>
          <a:prstGeom prst="rect">
            <a:avLst/>
          </a:prstGeom>
          <a:solidFill>
            <a:srgbClr val="0D7377">
              <a:alpha val="20000"/>
            </a:srgbClr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0040" y="4453128"/>
            <a:ext cx="84124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Consistency of reasoning across all three stages: same cost framework, same newsvendor principle, same data discipline — applied under evolving constraints.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GRIDSHIELD — Executive Board Presentation</dc:title>
  <dc:subject>PptxGenJS Presentation</dc:subject>
  <dc:creator>Forecast Risk Advisory Team</dc:creator>
  <cp:lastModifiedBy>Forecast Risk Advisory Team</cp:lastModifiedBy>
  <cp:revision>1</cp:revision>
  <dcterms:created xsi:type="dcterms:W3CDTF">2026-03-01T01:08:47Z</dcterms:created>
  <dcterms:modified xsi:type="dcterms:W3CDTF">2026-03-01T01:08:47Z</dcterms:modified>
</cp:coreProperties>
</file>