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645920" cy="41148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28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DECODE X |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Energy · Suburban Mumbai Distribution Zone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Baseline Diagnostic &amp; Cost-Aware Forecasting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08960"/>
            <a:ext cx="1920240" cy="1280160"/>
          </a:xfrm>
          <a:prstGeom prst="rect">
            <a:avLst/>
          </a:prstGeom>
          <a:solidFill>
            <a:srgbClr val="0D2B55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Period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108960"/>
            <a:ext cx="1920240" cy="1280160"/>
          </a:xfrm>
          <a:prstGeom prst="rect">
            <a:avLst/>
          </a:prstGeom>
          <a:solidFill>
            <a:srgbClr val="0D2B55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2,83,391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1920240" cy="1280160"/>
          </a:xfrm>
          <a:prstGeom prst="rect">
            <a:avLst/>
          </a:prstGeom>
          <a:solidFill>
            <a:srgbClr val="0D2B55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3108960"/>
            <a:ext cx="1920240" cy="1280160"/>
          </a:xfrm>
          <a:prstGeom prst="rect">
            <a:avLst/>
          </a:prstGeom>
          <a:solidFill>
            <a:srgbClr val="0D2B55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Reduction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NLD Synapse 2026 · N.L. Dalmia Institute · Forecast Risk Advisory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 &amp; Regulatory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Energy operates a suburban Mumbai distribution zone under Maharashtra's Availability Based Tariff (ABT) framework.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 Mandate: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2-day ahead load forecast at 15-min resolution to SLDC.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is NOT a statistical objective — it is a financial exposure minimization problem.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ABT Penalty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384048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UNDER-FORECAST (Actual &gt; Forecast)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₹4 per kWh deviation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384048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8A"/>
                </a:solidFill>
              </a:rPr>
              <a:t>OVER-FORECAST (Forecast &gt; Actual)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F8A"/>
                </a:solidFill>
              </a:rPr>
              <a:t>₹2 per kWh deviation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46320" y="3429000"/>
            <a:ext cx="384048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74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Strategy: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under-forecast costs 2× more, the optimal forecast quantile is q* = 4/(4+2) = 0.667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Peak Hours: 6:00 PM – 10:00 PM  |  Higher financial &amp; operational risk  |  Base penalty rates apply in Stage 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Load Analysis &amp; Exploratory Data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4C0"/>
                </a:solidFill>
              </a:rPr>
              <a:t>Training Period: April 2013 – April 2021  |  283,391 observations  |  15-minute resolution  |  COVID lockdown structural break visible (Mar–May 2020)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Weather Drivers, Seasonality &amp; Structural Breaks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4C0"/>
                </a:solidFill>
              </a:rPr>
              <a:t>Key finding: Temperature and Heat Index are strongest weather drivers. COVID lockdown caused ~25% load suppression in April 2020 vs historical average.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Forecasting Model Architecture &amp; 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83464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Gradient Boosting (HistGBR)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natively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280K+ rows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loss for asymmetric cost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to prevent overfitting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model + Q67 quantile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t-192, t-672 (2-day, 7-day)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encoding: hour, day, month, interval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Rolling: 1h, 6h, 24h, 7d means + std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Temp × Peak, Heat Index × Peak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phases: Lockdown + Unlock 1–6 (one-hot)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Holiday, Season, Weekend, Monday flags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2834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914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temporal train/val split (80/20)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leakage: min lag = 192 intervals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Apr 2013 – Sep 2019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Sep 2019 – Apr 2021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COVID period in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aware — no random shuffling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1888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Leakage Control: All lag features use minimum 192-interval offset (48 hours) ensuring true 2-day ahead forecast integrity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Performance &amp; Historical Backtest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4C0"/>
                </a:solidFill>
              </a:rPr>
              <a:t>Mean Model: RMSE 6.43 kW | MAPE 0.27%  ·  Q67 Model: upward bias +2.10 kW  ·  Naive Baseline: RMSE 113.69 kW  —  96.4% penalty reduction vs naive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Historical Deviation Penalty Backtest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219456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Naive 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Q67 Model (Optimal)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Total Deviation Penalty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₹32,48,135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₹1,15,720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₹1,32,096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Peak-Hour Penalty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₹6,13,125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₹25,298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₹25,078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Off-Peak Penalty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₹26,35,010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₹90,422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₹1,07,018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Forecast Bias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-0.012%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-0.000%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+0.185%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95th Pct Abs Deviation (kW)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271.0 kW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7.1 kW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10.4 kW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RMSE (kW)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113.69 kW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6.43 kW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8.10 kW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Penalty Reduction vs Naive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96.4%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95.9%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20116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96.4%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4608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Penalty Reduction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(Mean Model)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41448" y="4206240"/>
            <a:ext cx="201168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41448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₹31.3L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41448" y="4608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Savings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vs Naive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08576" y="4206240"/>
            <a:ext cx="20116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08576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0.27%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08576" y="4608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(Mean Model)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75704" y="4206240"/>
            <a:ext cx="2011680" cy="7772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75704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7.1 kW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75704" y="4608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95th Pct Error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(Mean Model)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Risk Strategy, Feature Importance &amp; Cost Minimization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4C0"/>
                </a:solidFill>
              </a:rPr>
              <a:t>Lag features dominate importance (54%). Q67 model over-forecasts 67% of intervals — exactly as theoretically optimal. Hybrid strategy recommended.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Cost-Minimizing Forecast Strategy Proposal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94360" cy="1828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Asymmetric Bias Positioning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99032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Under-forecasting costs ₹4/kWh vs ₹2/kWh for over-forecasting. The optimal forecast is NOT the mean — it is the 66.7th percentile (q* = 4/(4+2)). We use quantile regression to target this optimal bias.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94360" cy="1828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033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</a:rPr>
              <a:t>Hybrid Peak / Off-Peak Strategy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399032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(6–10 PM) carry highest financial risk. Apply Q67 model during peak, Mean model during off-peak for optimal cost-accuracy tradeoff. Peak penalty reduced to ₹25,078 from ₹6,13,125 (96% reduction).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F0FE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26080"/>
            <a:ext cx="59436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2608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9992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Structural Break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64992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lockdown (Mar–May 2020) created a ~25% demand suppression structural break. One-hot encoding of Lockdown + Unlock 1–6 phases allows the model to learn distinct load regimes.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206240" cy="1828800"/>
          </a:xfrm>
          <a:prstGeom prst="rect">
            <a:avLst/>
          </a:prstGeom>
          <a:solidFill>
            <a:srgbClr val="F0FFF0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594360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2608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29992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Uncertainty Quantification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364992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models provide prediction intervals (Q33, Q50, Q67, Q90). Wide intervals during holidays and extreme weather flag periods requiring conservative forecasting. 95th percentile error = 7.1 kW for mean model.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Expected Annual Penalty Savings vs Naive Baseline:  ₹31.3 Lakhs  |  Penalty Reduction: 96.4%  |  Peak Hour Reduction: 95.9%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57200" cy="5029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penalty structure demands quantile forecasting — the optimal strategy targets q = 0.667, not the conditional mean.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57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with 40+ engineered features achieves MAPE of 0.27% and 96.4% penalty reduction vs naive baseline.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457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511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5786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lockdown structural break is handled via one-hot encoding of 8 distinct demand regimes (lockdown + 6 unlock phases).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457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552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28269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strategy: Q67 model for peak hours (6–10 PM), Mean model for off-peak — minimizes total expected penalty.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457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59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98678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leakage controls: all lag features use minimum 192-interval (48h) offset, ensuring genuine 2-day-ahead forecast integrity.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DECODE X 2026 · Case GRIDSHIELD · NLD Synapse · Forecast Risk Advisory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GRIDSHIELD — Lumina Energy Load Forecasting</dc:title>
  <dc:subject>PptxGenJS Presentation</dc:subject>
  <dc:creator>Forecast Risk Advisory Team</dc:creator>
  <cp:lastModifiedBy>Forecast Risk Advisory Team</cp:lastModifiedBy>
  <cp:revision>1</cp:revision>
  <dcterms:created xsi:type="dcterms:W3CDTF">2026-02-28T15:44:26Z</dcterms:created>
  <dcterms:modified xsi:type="dcterms:W3CDTF">2026-02-28T15:44:26Z</dcterms:modified>
</cp:coreProperties>
</file>